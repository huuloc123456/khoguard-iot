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p15="http://schemas.microsoft.com/office/powerpoint/2012/main" xmlns:r="http://schemas.openxmlformats.org/officeDocument/2006/relationships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521"/>
    <p:restoredTop sz="94000"/>
  </p:normalViewPr>
  <p:slideViewPr>
    <p:cSldViewPr snapToGrid="0">
      <p:cViewPr>
        <p:scale>
          <a:sx n="72" d="100"/>
          <a:sy n="72" d="100"/>
        </p:scale>
        <p:origin x="-865" y="-3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38" d="100"/>
          <a:sy n="38" d="100"/>
        </p:scale>
        <p:origin x="1639" y="47"/>
      </p:cViewPr>
      <p:guideLst/>
    </p:cSldViewPr>
  </p:notesViewPr>
  <p:gridSpacing cx="72008" cy="72008"/>
</p:viewPr>
</file>

<file path=ppt/_rels/presentation.xml.rels><?xml version='1.0' encoding='utf-8'?>
<Relationships xmlns="http://schemas.openxmlformats.org/package/2006/relationships"><Relationship Id="rId18" Type="http://schemas.openxmlformats.org/officeDocument/2006/relationships/notesMaster" Target="notesMasters/notesMaster1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19" Type="http://schemas.openxmlformats.org/officeDocument/2006/relationships/handoutMaster" Target="handoutMasters/handoutMaster1.xml" /><Relationship Id="rId22" Type="http://schemas.openxmlformats.org/officeDocument/2006/relationships/theme" Target="theme/theme1.xml" /><Relationship Id="rId24" Type="http://schemas.openxmlformats.org/officeDocument/2006/relationships/slide" Target="slides/slide1.xml" /><Relationship Id="rId25" Type="http://schemas.openxmlformats.org/officeDocument/2006/relationships/slide" Target="slides/slide2.xml" /><Relationship Id="rId26" Type="http://schemas.openxmlformats.org/officeDocument/2006/relationships/slide" Target="slides/slide3.xml" /><Relationship Id="rId27" Type="http://schemas.openxmlformats.org/officeDocument/2006/relationships/slide" Target="slides/slide4.xml" /><Relationship Id="rId28" Type="http://schemas.openxmlformats.org/officeDocument/2006/relationships/slide" Target="slides/slide5.xml" /><Relationship Id="rId29" Type="http://schemas.openxmlformats.org/officeDocument/2006/relationships/slide" Target="slides/slide6.xml" /><Relationship Id="rId30" Type="http://schemas.openxmlformats.org/officeDocument/2006/relationships/slide" Target="slides/slide7.xml" /><Relationship Id="rId31" Type="http://schemas.openxmlformats.org/officeDocument/2006/relationships/slide" Target="slides/slide8.xml" /><Relationship Id="rId32" Type="http://schemas.openxmlformats.org/officeDocument/2006/relationships/slide" Target="slides/slide9.xml" /><Relationship Id="rId33" Type="http://schemas.openxmlformats.org/officeDocument/2006/relationships/slide" Target="slides/slide10.xml" /><Relationship Id="rId34" Type="http://schemas.openxmlformats.org/officeDocument/2006/relationships/slide" Target="slides/slide11.xml" /><Relationship Id="rId35" Type="http://schemas.openxmlformats.org/officeDocument/2006/relationships/slide" Target="slides/slide12.xml" /><Relationship Id="rId36" Type="http://schemas.openxmlformats.org/officeDocument/2006/relationships/slide" Target="slides/slide13.xml" /><Relationship Id="rId37" Type="http://schemas.openxmlformats.org/officeDocument/2006/relationships/slide" Target="slides/slide14.xml" /><Relationship Id="rId38" Type="http://schemas.openxmlformats.org/officeDocument/2006/relationships/slide" Target="slides/slide15.xml" /><Relationship Id="rId39" Type="http://schemas.openxmlformats.org/officeDocument/2006/relationships/slide" Target="slides/slide16.xml" /><Relationship Id="rId40" Type="http://schemas.openxmlformats.org/officeDocument/2006/relationships/slide" Target="slides/slide17.xml" /><Relationship Id="rId41" Type="http://schemas.openxmlformats.org/officeDocument/2006/relationships/slide" Target="slides/slide18.xml" /><Relationship Id="rId42" Type="http://schemas.openxmlformats.org/officeDocument/2006/relationships/slide" Target="slides/slide19.xml" /><Relationship Id="rId43" Type="http://schemas.openxmlformats.org/officeDocument/2006/relationships/slide" Target="slides/slide20.xml" /><Relationship Id="rId44" Type="http://schemas.openxmlformats.org/officeDocument/2006/relationships/slide" Target="slides/slide21.xml" /><Relationship Id="rId45" Type="http://schemas.openxmlformats.org/officeDocument/2006/relationships/slide" Target="slides/slide22.xml" /><Relationship Id="rId46" Type="http://schemas.openxmlformats.org/officeDocument/2006/relationships/slide" Target="slides/slide23.xml" /><Relationship Id="rId47" Type="http://schemas.openxmlformats.org/officeDocument/2006/relationships/slide" Target="slides/slide24.xml" /><Relationship Id="rId48" Type="http://schemas.openxmlformats.org/officeDocument/2006/relationships/slide" Target="slides/slide25.xml" /><Relationship Id="rId49" Type="http://schemas.openxmlformats.org/officeDocument/2006/relationships/slide" Target="slides/slide26.xml" /><Relationship Id="rId50" Type="http://schemas.openxmlformats.org/officeDocument/2006/relationships/slide" Target="slides/slide27.xml" /><Relationship Id="rId51" Type="http://schemas.openxmlformats.org/officeDocument/2006/relationships/slide" Target="slides/slide28.xml" /><Relationship Id="rId52" Type="http://schemas.openxmlformats.org/officeDocument/2006/relationships/slide" Target="slides/slide29.xml" /><Relationship Id="rId53" Type="http://schemas.openxmlformats.org/officeDocument/2006/relationships/slide" Target="slides/slide30.xml" /><Relationship Id="rId54" Type="http://schemas.openxmlformats.org/officeDocument/2006/relationships/slide" Target="slides/slide31.xml" /><Relationship Id="rId55" Type="http://schemas.openxmlformats.org/officeDocument/2006/relationships/slide" Target="slides/slide32.xml" /><Relationship Id="rId56" Type="http://schemas.openxmlformats.org/officeDocument/2006/relationships/slide" Target="slides/slide33.xml" 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01C6AAA-1B16-496A-AD2F-9E5F7A5411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382A68-C0E5-49D9-9DCD-5ADEF1CFDB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5D4D1-B903-4967-97D4-7D6A4547E178}" type="datetimeFigureOut">
              <a:rPr lang="en-US" smtClean="0"/>
              <a:t>11/25/2024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86F5A-B4BB-4CA1-970C-53397DBD6F9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339717-37E1-439D-90A7-7627B0CCEA9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9EECD5-1DE4-4892-AF68-1F50DC02FF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7572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828C5E-CC11-5045-9DB1-2DEBBC73123B}" type="datetimeFigureOut">
              <a:rPr lang="en-VN" smtClean="0"/>
              <a:t>11/25/2024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C9B719-7321-EE49-A7E7-CC6BA5D41AA2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10057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1FA5C7D-F076-ABAB-28ED-936E6476926A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CBF138-DDAA-03AE-2BFD-F0E6E77D0894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6B26E30-45B4-E434-42E3-BFE66D53EB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8EE5A3-86BB-B40C-62D9-2E005424811B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  <p:pic>
        <p:nvPicPr>
          <p:cNvPr id="20" name="Picture 19" descr="A building with trees in the background&#10;&#10;Description automatically generated">
            <a:extLst>
              <a:ext uri="{FF2B5EF4-FFF2-40B4-BE49-F238E27FC236}">
                <a16:creationId xmlns:a16="http://schemas.microsoft.com/office/drawing/2014/main" id="{633C415B-DE87-6E90-4B13-A134B02EF45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0160" y="5045074"/>
            <a:ext cx="12202160" cy="1676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088D834-70EE-F737-6AE1-030852F6AA55}"/>
              </a:ext>
            </a:extLst>
          </p:cNvPr>
          <p:cNvSpPr txBox="1"/>
          <p:nvPr userDrawn="1"/>
        </p:nvSpPr>
        <p:spPr>
          <a:xfrm>
            <a:off x="-10160" y="32083"/>
            <a:ext cx="1220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TRƯỜNG ĐẠI HỌC CÔNG THƯƠNG THÀNH PHỐ HỒ CHÍ MINH</a:t>
            </a:r>
          </a:p>
          <a:p>
            <a:pPr algn="ctr"/>
            <a:r>
              <a:rPr lang="en-US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QUẢN TRỊ KINH DOANH</a:t>
            </a:r>
            <a:endParaRPr lang="en-VN" sz="1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2" descr="A white circle with blue and red text and a book with a graduation cap&#10;&#10;Description automatically generated">
            <a:extLst>
              <a:ext uri="{FF2B5EF4-FFF2-40B4-BE49-F238E27FC236}">
                <a16:creationId xmlns:a16="http://schemas.microsoft.com/office/drawing/2014/main" id="{CC7CB636-E017-BD51-B7F7-2797B5CEAFFA}"/>
              </a:ext>
            </a:extLst>
          </p:cNvPr>
          <p:cNvPicPr>
            <a:picLocks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6133" y="18061"/>
            <a:ext cx="666000" cy="66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02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7D56CA0-7F99-A73F-EC74-87E2C37C45F8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84305"/>
            <a:ext cx="10515600" cy="80638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" name="Picture 9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636941E3-E3EC-8EF3-53CB-96FCF404C8E3}"/>
              </a:ext>
            </a:extLst>
          </p:cNvPr>
          <p:cNvPicPr>
            <a:picLocks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  <p:sp>
        <p:nvSpPr>
          <p:cNvPr id="11" name="Rectangle 11">
            <a:extLst>
              <a:ext uri="{FF2B5EF4-FFF2-40B4-BE49-F238E27FC236}">
                <a16:creationId xmlns:a16="http://schemas.microsoft.com/office/drawing/2014/main" id="{D433E92D-1893-9769-8444-34EEDD3F24BC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550C907-0A3F-10BA-C15C-CA461460FE9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B4E7459-A8A2-5081-F907-74BAE417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0F50DE-1588-0A68-B2AE-03A7C3A9B079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7958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DCC048-85E1-D9DE-466A-D5EAB21DAFC6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0547C463-86A8-9ADB-B42F-6F8F911146A4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C2EE3A5-6242-A6B2-F6B4-2094B545F5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A9473FA4-C6C6-7E97-AACE-A35CFDAB7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851853-8430-FC7D-0C05-EA3095D410B2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  <p:pic>
        <p:nvPicPr>
          <p:cNvPr id="6" name="Picture 5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632828F-0B4F-8119-5B19-088A1173C903}"/>
              </a:ext>
            </a:extLst>
          </p:cNvPr>
          <p:cNvPicPr>
            <a:picLocks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189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EE82EC-C435-7D46-EFDD-D5C6A244EEA6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77329"/>
            <a:ext cx="10515600" cy="71336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CE50E531-FF89-E7A1-EC42-5664726867C2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4D41C0-EECC-510F-3124-F7EBC163F8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1F0268C-2917-2762-4664-C6ACF3587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7AE9E0-DBEB-84FF-4DC2-C53AC3C7993F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93BE15D-74FA-AED7-3D2B-A613D05E679B}"/>
              </a:ext>
            </a:extLst>
          </p:cNvPr>
          <p:cNvPicPr>
            <a:picLocks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84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A13BF4-06A1-B98B-FD59-CA5020C120FA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66777"/>
            <a:ext cx="10515600" cy="82391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8D1E83-C000-B443-17A1-67E172C1C81A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4F5B01C-A4C1-2548-9E99-49DA8F4F3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622E35-ED11-3E1D-3267-FB7969EBB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5FADBA-93BC-7FCB-D7C6-2138FE10BECE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2F168AC0-F6F3-71BB-BDB7-D14C957BCB1E}"/>
              </a:ext>
            </a:extLst>
          </p:cNvPr>
          <p:cNvPicPr>
            <a:picLocks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784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A521EA7-200B-F8EF-FA1A-AF68F6EAFB52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74059"/>
            <a:ext cx="10515600" cy="8166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C62A9323-B343-0333-2A84-AB84726F1555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472A695-B9BF-2B5E-F712-588F45EA7A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0B28936-A209-8496-713D-69F064437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1FC07C-FFBA-6E41-FC9E-B8C545CCA2CA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  <p:pic>
        <p:nvPicPr>
          <p:cNvPr id="3" name="Picture 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43E1AB2-24F0-751B-86DE-9AC77889FA3E}"/>
              </a:ext>
            </a:extLst>
          </p:cNvPr>
          <p:cNvPicPr>
            <a:picLocks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962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1F72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5A64684-422C-D171-0292-6610A91BE81D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D82848-CD15-3DBB-0148-67FB51371B08}"/>
              </a:ext>
            </a:extLst>
          </p:cNvPr>
          <p:cNvPicPr>
            <a:picLocks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  <p:sp>
        <p:nvSpPr>
          <p:cNvPr id="8" name="Rectangle 11">
            <a:extLst>
              <a:ext uri="{FF2B5EF4-FFF2-40B4-BE49-F238E27FC236}">
                <a16:creationId xmlns:a16="http://schemas.microsoft.com/office/drawing/2014/main" id="{181386B9-1456-137E-66EE-45A4447494C5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CB3CD2-68E1-7670-8AC8-DCAEFA04479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55B251-549F-CC81-82C4-1791D4DC0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95FE02-F81D-DAA0-4384-0E62C5A8FC54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bg1"/>
                </a:solidFill>
              </a:rPr>
              <a:t>https://huit.edu.vn</a:t>
            </a:r>
            <a:endParaRPr lang="en-VN" sz="10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1512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E7B-7E2F-A597-CEAB-D64DA25FBCEB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87426"/>
            <a:ext cx="3932237" cy="106997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EA9AB12A-F2B6-4320-39F1-67F3778EE5DF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773966A-35C2-70BC-CFF9-46C3441D8C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8C1A7AF-70A0-C0E9-B2F5-1490BE6C7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216FF7-3AE9-85FA-D18A-9862C6DB59AE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C0ADFA0-11B6-96C9-35AE-E6733196ACDA}"/>
              </a:ext>
            </a:extLst>
          </p:cNvPr>
          <p:cNvPicPr>
            <a:picLocks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604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2A7AA7-CA5F-D2FA-2E5E-C3E10A53D359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87426"/>
            <a:ext cx="3932237" cy="106997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1EDE2594-98FA-EBCE-C733-A51E9F54ED18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F735AE5-30EC-7992-E657-2104C4F3BF3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CB5785D-C6E0-0BB4-B792-5DF6906E1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C76ABB-19BA-0D81-2004-CA8C1BFA3211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3DEC689-0562-F90A-00BD-D3E65D677F10}"/>
              </a:ext>
            </a:extLst>
          </p:cNvPr>
          <p:cNvPicPr>
            <a:picLocks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388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B8236F-F572-6350-D20A-0FCE1F380099}"/>
              </a:ext>
            </a:extLst>
          </p:cNvPr>
          <p:cNvSpPr/>
          <p:nvPr userDrawn="1"/>
        </p:nvSpPr>
        <p:spPr>
          <a:xfrm>
            <a:off x="0" y="-8444"/>
            <a:ext cx="12192000" cy="71336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84304"/>
            <a:ext cx="10515600" cy="80638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9C659F1E-1F51-522D-AC8E-BE6E140A9E7D}"/>
              </a:ext>
            </a:extLst>
          </p:cNvPr>
          <p:cNvSpPr/>
          <p:nvPr userDrawn="1"/>
        </p:nvSpPr>
        <p:spPr>
          <a:xfrm>
            <a:off x="1775458" y="6721474"/>
            <a:ext cx="10416543" cy="136562"/>
          </a:xfrm>
          <a:custGeom>
            <a:avLst/>
            <a:gdLst>
              <a:gd name="connsiteX0" fmla="*/ 0 w 8093413"/>
              <a:gd name="connsiteY0" fmla="*/ 0 h 133200"/>
              <a:gd name="connsiteX1" fmla="*/ 8093413 w 8093413"/>
              <a:gd name="connsiteY1" fmla="*/ 0 h 133200"/>
              <a:gd name="connsiteX2" fmla="*/ 8093413 w 8093413"/>
              <a:gd name="connsiteY2" fmla="*/ 133200 h 133200"/>
              <a:gd name="connsiteX3" fmla="*/ 0 w 8093413"/>
              <a:gd name="connsiteY3" fmla="*/ 133200 h 133200"/>
              <a:gd name="connsiteX4" fmla="*/ 0 w 8093413"/>
              <a:gd name="connsiteY4" fmla="*/ 0 h 133200"/>
              <a:gd name="connsiteX0" fmla="*/ 94130 w 8187543"/>
              <a:gd name="connsiteY0" fmla="*/ 0 h 136562"/>
              <a:gd name="connsiteX1" fmla="*/ 8187543 w 8187543"/>
              <a:gd name="connsiteY1" fmla="*/ 0 h 136562"/>
              <a:gd name="connsiteX2" fmla="*/ 8187543 w 8187543"/>
              <a:gd name="connsiteY2" fmla="*/ 133200 h 136562"/>
              <a:gd name="connsiteX3" fmla="*/ 0 w 8187543"/>
              <a:gd name="connsiteY3" fmla="*/ 136562 h 136562"/>
              <a:gd name="connsiteX4" fmla="*/ 94130 w 8187543"/>
              <a:gd name="connsiteY4" fmla="*/ 0 h 13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87543" h="136562">
                <a:moveTo>
                  <a:pt x="94130" y="0"/>
                </a:moveTo>
                <a:lnTo>
                  <a:pt x="8187543" y="0"/>
                </a:lnTo>
                <a:lnTo>
                  <a:pt x="8187543" y="133200"/>
                </a:lnTo>
                <a:lnTo>
                  <a:pt x="0" y="136562"/>
                </a:lnTo>
                <a:lnTo>
                  <a:pt x="9413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80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1B0D34-343B-C838-5720-7351BA57CF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28826" y="6739175"/>
            <a:ext cx="10363148" cy="101806"/>
          </a:xfrm>
          <a:prstGeom prst="rect">
            <a:avLst/>
          </a:prstGeom>
        </p:spPr>
      </p:pic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B8E042D-2BAA-2A3F-EC27-380C92DB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6283" y="6599573"/>
            <a:ext cx="505557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fld id="{D379440A-2DED-3643-ADED-9B5C83E7D828}" type="slidenum">
              <a:rPr lang="en-VN"/>
              <a:pPr/>
              <a:t>‹#›</a:t>
            </a:fld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CD5B80-37F9-BE16-90B3-B1958D8A8755}"/>
              </a:ext>
            </a:extLst>
          </p:cNvPr>
          <p:cNvSpPr txBox="1"/>
          <p:nvPr userDrawn="1"/>
        </p:nvSpPr>
        <p:spPr>
          <a:xfrm>
            <a:off x="140379" y="6663076"/>
            <a:ext cx="16249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rgbClr val="0070C0"/>
                </a:solidFill>
              </a:rPr>
              <a:t>https://huit.edu.vn</a:t>
            </a:r>
            <a:endParaRPr lang="en-VN" sz="1000">
              <a:solidFill>
                <a:srgbClr val="0070C0"/>
              </a:solidFill>
            </a:endParaRPr>
          </a:p>
        </p:txBody>
      </p:sp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E62415AA-63D3-FB51-385B-BC2BCB0599A3}"/>
              </a:ext>
            </a:extLst>
          </p:cNvPr>
          <p:cNvPicPr>
            <a:picLocks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8618" y="2224"/>
            <a:ext cx="3290400" cy="685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360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02366D-8698-B649-944B-CF1A6B166FF8}" type="datetimeFigureOut">
              <a:t>11/25/2024</a:t>
            </a:fld>
            <a:endParaRPr lang="en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9440A-2DED-3643-ADED-9B5C83E7D828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62272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9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_652c54fdcd13b6fb.png" /></Relationships>
</file>

<file path=ppt/slides/_rels/slide10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_84f18e5aa5ebe6be.png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'1.0' encoding='utf-8'?>
<Relationships xmlns="http://schemas.openxmlformats.org/package/2006/relationships"><Relationship Id="rId1" Type="http://schemas.openxmlformats.org/officeDocument/2006/relationships/slideLayout" Target="../slideLayouts/slideLayout9.xml" /><Relationship Id="rId2" Type="http://schemas.openxmlformats.org/officeDocument/2006/relationships/image" Target="../media/image_3a48cba821def7d4.png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3.xml.rels><?xml version='1.0' encoding='utf-8'?>
<Relationships xmlns="http://schemas.openxmlformats.org/package/2006/relationships"><Relationship Id="rId2" Type="http://schemas.openxmlformats.org/officeDocument/2006/relationships/image" Target="../media/image6.jpeg" /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/>
          <p:nvPr/>
        </p:nvSpPr>
        <p:spPr>
          <a:xfrm>
            <a:off x="1811750" y="1068229"/>
            <a:ext cx="8365141" cy="830961"/>
          </a:xfrm>
          <a:prstGeom prst="rect">
            <a:avLst/>
          </a:prstGeom>
          <a:noFill/>
          <a:ln>
            <a:noFill/>
          </a:ln>
        </p:spPr>
        <p:txBody>
          <a:bodyPr wrap="none" lIns="95" tIns="45677" rIns="0" bIns="0" anchor="t" anchorCtr="0">
            <a:noAutofit/>
          </a:bodyPr>
          <a:lstStyle/>
          <a:p>
            <a:pPr algn="ctr"/>
            <a:r>
              <a:rPr lang="vi" sz="4800" b="1" dirty="0">
                <a:solidFill>
                  <a:srgbClr val="ED1C24"/>
                </a:solidFill>
                <a:latin typeface="Times New Roman"/>
                <a:ea typeface="Times New Roman"/>
                <a:cs typeface="Times New Roman"/>
              </a:rPr>
              <a:t>MÔ HÌNH IOT</a:t>
            </a:r>
          </a:p>
        </p:txBody>
      </p:sp>
      <p:sp>
        <p:nvSpPr>
          <p:cNvPr id="7" name="TextBox 6"/>
          <p:cNvSpPr/>
          <p:nvPr/>
        </p:nvSpPr>
        <p:spPr>
          <a:xfrm>
            <a:off x="1956721" y="1921954"/>
            <a:ext cx="8075200" cy="769430"/>
          </a:xfrm>
          <a:prstGeom prst="rect">
            <a:avLst/>
          </a:prstGeom>
          <a:noFill/>
          <a:ln>
            <a:noFill/>
          </a:ln>
        </p:spPr>
        <p:txBody>
          <a:bodyPr wrap="none" lIns="95" tIns="45694" rIns="0" bIns="0" anchor="t" anchorCtr="0">
            <a:noAutofit/>
          </a:bodyPr>
          <a:lstStyle/>
          <a:p>
            <a:pPr algn="ctr"/>
            <a:r>
              <a:rPr lang="vi" sz="4400" b="1" dirty="0">
                <a:solidFill>
                  <a:srgbClr val="034EA2"/>
                </a:solidFill>
                <a:latin typeface="Times New Roman"/>
                <a:ea typeface="Times New Roman"/>
                <a:cs typeface="Times New Roman"/>
              </a:rPr>
              <a:t>KHO LẠNH THÔNG MINH</a:t>
            </a:r>
          </a:p>
        </p:txBody>
      </p:sp>
      <p:sp>
        <p:nvSpPr>
          <p:cNvPr id="9" name="TextBox 8"/>
          <p:cNvSpPr/>
          <p:nvPr/>
        </p:nvSpPr>
        <p:spPr>
          <a:xfrm>
            <a:off x="1956721" y="2696528"/>
            <a:ext cx="8075200" cy="523208"/>
          </a:xfrm>
          <a:prstGeom prst="rect">
            <a:avLst/>
          </a:prstGeom>
          <a:noFill/>
          <a:ln>
            <a:noFill/>
          </a:ln>
        </p:spPr>
        <p:txBody>
          <a:bodyPr wrap="none" lIns="95" tIns="45698" rIns="0" bIns="0" anchor="t" anchorCtr="0">
            <a:noAutofit/>
          </a:bodyPr>
          <a:lstStyle/>
          <a:p>
            <a:pPr algn="ctr"/>
            <a:r>
              <a:rPr lang="vi" sz="2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NHÓM 17 · ĐỀ TÀI 42</a:t>
            </a:r>
          </a:p>
        </p:txBody>
      </p:sp>
      <p:sp>
        <p:nvSpPr>
          <p:cNvPr id="2" name="TextBox 1"/>
          <p:cNvSpPr/>
          <p:nvPr/>
        </p:nvSpPr>
        <p:spPr>
          <a:xfrm>
            <a:off x="6329839" y="4051173"/>
            <a:ext cx="5633561" cy="430911"/>
          </a:xfrm>
          <a:prstGeom prst="rect">
            <a:avLst/>
          </a:prstGeom>
          <a:noFill/>
          <a:ln>
            <a:noFill/>
          </a:ln>
        </p:spPr>
        <p:txBody>
          <a:bodyPr wrap="none" lIns="91440" tIns="45694" rIns="0" bIns="0" anchor="t" anchorCtr="0">
            <a:noAutofit/>
          </a:bodyPr>
          <a:lstStyle/>
          <a:p>
            <a:pPr algn="l"/>
            <a:r>
              <a:rPr lang="vi" sz="22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WOKWI · KHU C · ESP-C01</a:t>
            </a:r>
          </a:p>
        </p:txBody>
      </p:sp>
      <p:sp>
        <p:nvSpPr>
          <p:cNvPr id="3" name="TextBox 2"/>
          <p:cNvSpPr/>
          <p:nvPr/>
        </p:nvSpPr>
        <p:spPr>
          <a:xfrm>
            <a:off x="6329839" y="4516946"/>
            <a:ext cx="6312884" cy="430911"/>
          </a:xfrm>
          <a:prstGeom prst="rect">
            <a:avLst/>
          </a:prstGeom>
          <a:noFill/>
          <a:ln>
            <a:noFill/>
          </a:ln>
        </p:spPr>
        <p:txBody>
          <a:bodyPr wrap="none" lIns="91440" tIns="45768" rIns="0" bIns="0" anchor="t" anchorCtr="0">
            <a:noAutofit/>
          </a:bodyPr>
          <a:lstStyle/>
          <a:p>
            <a:pPr algn="l"/>
            <a:r>
              <a:rPr lang="vi" sz="22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HAI CỬA D07–D08 · HỆ THỐNG IOT</a:t>
            </a:r>
          </a:p>
        </p:txBody>
      </p:sp>
      <p:sp>
        <p:nvSpPr>
          <p:cNvPr id="4" name="Rectangle 3"/>
          <p:cNvSpPr/>
          <p:nvPr/>
        </p:nvSpPr>
        <p:spPr>
          <a:xfrm>
            <a:off x="382429" y="3444716"/>
            <a:ext cx="10993374" cy="584740"/>
          </a:xfrm>
          <a:prstGeom prst="rect">
            <a:avLst/>
          </a:prstGeom>
          <a:noFill/>
          <a:ln>
            <a:noFill/>
          </a:ln>
        </p:spPr>
        <p:txBody>
          <a:bodyPr wrap="none" lIns="0" tIns="45701" rIns="0" bIns="0" anchor="t" anchorCtr="0">
            <a:noAutofit/>
          </a:bodyPr>
          <a:lstStyle/>
          <a:p>
            <a:pPr algn="ctr"/>
            <a:r>
              <a:rPr lang="vi" sz="32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KhoGuard — giám sát kho lạnh một khu</a:t>
            </a:r>
          </a:p>
        </p:txBody>
      </p:sp>
    </p:spTree>
    <p:extLst>
      <p:ext uri="{BB962C8B-B14F-4D97-AF65-F5344CB8AC3E}">
        <p14:creationId val="1642442585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ns2:creationId id="{D8E42368-8590-7445-DC06-93C7F3896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khoguard-content"/>
          <p:cNvGrpSpPr/>
          <p:nvPr/>
        </p:nvGrpSpPr>
        <p:grpSpPr>
          <a:xfrm>
            <a:off x="1238250" y="733425"/>
            <a:ext cx="7602483" cy="5848350"/>
            <a:chOff x="1238250" y="733425"/>
            <a:chExt cx="7602483" cy="5848350"/>
          </a:xfrm>
        </p:grpSpPr>
        <p:sp>
          <p:nvSpPr>
            <p:cNvPr id="2" name="TextBox 2"/>
            <p:cNvSpPr txBox="1"/>
            <p:nvPr/>
          </p:nvSpPr>
          <p:spPr>
            <a:xfrm>
              <a:off x="3351268" y="733425"/>
              <a:ext cx="548946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Năm phần: từ bài toán tới giới hạn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812892" y="1349375"/>
              <a:ext cx="25662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Trình bày trong khoảng 7–9 phút</a:t>
              </a:r>
            </a:p>
          </p:txBody>
        </p:sp>
        <p:sp>
          <p:nvSpPr>
            <p:cNvPr id="4" name="tl-dot-0"/>
            <p:cNvSpPr/>
            <p:nvPr/>
          </p:nvSpPr>
          <p:spPr>
            <a:xfrm>
              <a:off x="1238250" y="197167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346623" y="2092325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01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897380" y="1965325"/>
              <a:ext cx="6921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Phạm vi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70273" y="1990725"/>
              <a:ext cx="16504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Kho C · ESP-C01 · 2 cửa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1428750" y="2371725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9" name="tl-dot-1"/>
            <p:cNvSpPr/>
            <p:nvPr/>
          </p:nvSpPr>
          <p:spPr>
            <a:xfrm>
              <a:off x="1238250" y="267652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46623" y="2797175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02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97380" y="2670175"/>
              <a:ext cx="653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Thiết bị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470273" y="2695575"/>
              <a:ext cx="196623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Linh kiện và quy tắc an toàn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1428750" y="3076575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14" name="tl-dot-2"/>
            <p:cNvSpPr/>
            <p:nvPr/>
          </p:nvSpPr>
          <p:spPr>
            <a:xfrm>
              <a:off x="1238250" y="338137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346623" y="3502025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97380" y="3375025"/>
              <a:ext cx="85205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Triển khai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0273" y="3400425"/>
              <a:ext cx="242212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Firmware · MQTT · MySQL · React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428750" y="3781425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19" name="tl-dot-3"/>
            <p:cNvSpPr/>
            <p:nvPr/>
          </p:nvSpPr>
          <p:spPr>
            <a:xfrm>
              <a:off x="1238250" y="408622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46623" y="4206875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04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97380" y="4079875"/>
              <a:ext cx="5241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Demo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70273" y="4105275"/>
              <a:ext cx="153030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Ca đã chạy và kết quả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428750" y="4486275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24" name="tl-dot-4"/>
            <p:cNvSpPr/>
            <p:nvPr/>
          </p:nvSpPr>
          <p:spPr>
            <a:xfrm>
              <a:off x="1238250" y="479107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346623" y="4911725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97380" y="4784725"/>
              <a:ext cx="7193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Giới hạn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70273" y="4810125"/>
              <a:ext cx="219490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Điều mô hình chưa chứng minh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1428750" y="5191125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29" name="tl-dot-5"/>
            <p:cNvSpPr/>
            <p:nvPr/>
          </p:nvSpPr>
          <p:spPr>
            <a:xfrm>
              <a:off x="1238250" y="549592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46623" y="5616575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06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97380" y="5489575"/>
              <a:ext cx="779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Kiểm thử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470273" y="5514975"/>
              <a:ext cx="254780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Ca đã chạy và nội dung còn giới hạn.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1428750" y="5895975"/>
              <a:ext cx="9525" cy="247650"/>
            </a:xfrm>
            <a:custGeom>
              <a:avLst/>
              <a:gdLst/>
              <a:ahLst/>
              <a:cxnLst/>
              <a:rect l="l" t="t" r="r" b="b"/>
              <a:pathLst>
                <a:path w="9525" h="247650">
                  <a:moveTo>
                    <a:pt x="0" y="0"/>
                  </a:moveTo>
                  <a:lnTo>
                    <a:pt x="0" y="2476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34" name="tl-dot-6"/>
            <p:cNvSpPr/>
            <p:nvPr/>
          </p:nvSpPr>
          <p:spPr>
            <a:xfrm>
              <a:off x="1238250" y="620077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346623" y="6321425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07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897380" y="6194425"/>
              <a:ext cx="7146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Kết luận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470273" y="6219825"/>
              <a:ext cx="213855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Phạm vi có thể phát triển tiếp.</a:t>
              </a:r>
            </a:p>
          </p:txBody>
        </p:sp>
      </p:grpSp>
    </p:spTree>
    <p:extLst>
      <p:ext uri="{BB962C8B-B14F-4D97-AF65-F5344CB8AC3E}">
        <p14:creationId val="67684560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khoguard-chapter"/>
          <p:cNvGrpSpPr/>
          <p:nvPr/>
        </p:nvGrpSpPr>
        <p:grpSpPr>
          <a:xfrm>
            <a:off x="3292984" y="2095500"/>
            <a:ext cx="5606032" cy="3009900"/>
            <a:chOff x="3292984" y="2095500"/>
            <a:chExt cx="5606032" cy="3009900"/>
          </a:xfrm>
        </p:grpSpPr>
        <p:sp>
          <p:nvSpPr>
            <p:cNvPr id="2" name="chapter-ring"/>
            <p:cNvSpPr/>
            <p:nvPr/>
          </p:nvSpPr>
          <p:spPr>
            <a:xfrm>
              <a:off x="5476875" y="2095500"/>
              <a:ext cx="1238250" cy="1238250"/>
            </a:xfrm>
            <a:prstGeom prst="ellipse">
              <a:avLst/>
            </a:prstGeom>
            <a:solidFill>
              <a:srgbClr val="FFFFFF"/>
            </a:solidFill>
            <a:ln w="76200">
              <a:solidFill>
                <a:srgbClr val="FEC01D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10545" y="2546350"/>
              <a:ext cx="13709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1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CHƯƠNG 1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292984" y="3543300"/>
              <a:ext cx="560603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2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Chương 1 · Bài toán và phạm vi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231940" y="4400550"/>
              <a:ext cx="37281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Một kho lạnh, hai cửa, một bộ điều khiển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4095750" y="5095875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47625" cap="rnd">
              <a:solidFill>
                <a:srgbClr val="FEC01D"/>
              </a:solidFill>
            </a:ln>
          </p:spPr>
        </p:sp>
      </p:grpSp>
    </p:spTree>
    <p:extLst>
      <p:ext uri="{BB962C8B-B14F-4D97-AF65-F5344CB8AC3E}">
        <p14:creationId val="3319351958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khoguard-content"/>
          <p:cNvGrpSpPr/>
          <p:nvPr/>
        </p:nvGrpSpPr>
        <p:grpSpPr>
          <a:xfrm>
            <a:off x="762000" y="733425"/>
            <a:ext cx="10668000" cy="5362575"/>
            <a:chOff x="762000" y="733425"/>
            <a:chExt cx="10668000" cy="5362575"/>
          </a:xfrm>
        </p:grpSpPr>
        <p:sp>
          <p:nvSpPr>
            <p:cNvPr id="2" name="TextBox 2"/>
            <p:cNvSpPr txBox="1"/>
            <p:nvPr/>
          </p:nvSpPr>
          <p:spPr>
            <a:xfrm>
              <a:off x="2420242" y="733425"/>
              <a:ext cx="73515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Kho lạnh cần biết khi nào cửa không nên đóng</a:t>
              </a:r>
            </a:p>
          </p:txBody>
        </p:sp>
        <p:sp>
          <p:nvSpPr>
            <p:cNvPr id="3" name="compare-0"/>
            <p:cNvSpPr/>
            <p:nvPr/>
          </p:nvSpPr>
          <p:spPr>
            <a:xfrm>
              <a:off x="762000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EAF5FB"/>
            </a:solidFill>
            <a:ln w="19050">
              <a:solidFill>
                <a:srgbClr val="2072B7"/>
              </a:solidFill>
            </a:ln>
          </p:spPr>
        </p:sp>
        <p:sp>
          <p:nvSpPr>
            <p:cNvPr id="4" name="compare-band-0"/>
            <p:cNvSpPr/>
            <p:nvPr/>
          </p:nvSpPr>
          <p:spPr>
            <a:xfrm>
              <a:off x="762000" y="2047875"/>
              <a:ext cx="5095875" cy="55245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928770" y="2219325"/>
              <a:ext cx="76233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Nguy cơ</a:t>
              </a:r>
            </a:p>
          </p:txBody>
        </p:sp>
        <p:sp>
          <p:nvSpPr>
            <p:cNvPr id="6" name="compare-body-0"/>
            <p:cNvSpPr txBox="1"/>
            <p:nvPr/>
          </p:nvSpPr>
          <p:spPr>
            <a:xfrm>
              <a:off x="983742" y="2825750"/>
              <a:ext cx="2809705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Người ở trong kho.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PIR báo chuyển động.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Sonar thấy vật cản hoặc input chưa rõ.</a:t>
              </a:r>
            </a:p>
          </p:txBody>
        </p:sp>
        <p:sp>
          <p:nvSpPr>
            <p:cNvPr id="7" name="compare-1"/>
            <p:cNvSpPr/>
            <p:nvPr/>
          </p:nvSpPr>
          <p:spPr>
            <a:xfrm>
              <a:off x="6334125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FFFFFF"/>
            </a:solidFill>
            <a:ln w="19050">
              <a:solidFill>
                <a:srgbClr val="4CC4EB"/>
              </a:solidFill>
            </a:ln>
          </p:spPr>
        </p:sp>
        <p:sp>
          <p:nvSpPr>
            <p:cNvPr id="8" name="compare-band-1"/>
            <p:cNvSpPr/>
            <p:nvPr/>
          </p:nvSpPr>
          <p:spPr>
            <a:xfrm>
              <a:off x="6334125" y="2047875"/>
              <a:ext cx="5095875" cy="552450"/>
            </a:xfrm>
            <a:prstGeom prst="rect">
              <a:avLst/>
            </a:prstGeom>
            <a:solidFill>
              <a:srgbClr val="044F9E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517039" y="2219325"/>
              <a:ext cx="7300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Quy tắc</a:t>
              </a:r>
            </a:p>
          </p:txBody>
        </p:sp>
        <p:sp>
          <p:nvSpPr>
            <p:cNvPr id="10" name="compare-body-1"/>
            <p:cNvSpPr txBox="1"/>
            <p:nvPr/>
          </p:nvSpPr>
          <p:spPr>
            <a:xfrm>
              <a:off x="6555867" y="2825750"/>
              <a:ext cx="1803843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ESP32 từ chối đóng.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Cửa còn lại phải đóng.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Panic được xử lý tại chỗ.</a:t>
              </a:r>
            </a:p>
          </p:txBody>
        </p:sp>
        <p:sp>
          <p:nvSpPr>
            <p:cNvPr id="11" name="verdict-band"/>
            <p:cNvSpPr/>
            <p:nvPr/>
          </p:nvSpPr>
          <p:spPr>
            <a:xfrm>
              <a:off x="1524000" y="5543550"/>
              <a:ext cx="9144000" cy="552450"/>
            </a:xfrm>
            <a:prstGeom prst="roundRect">
              <a:avLst>
                <a:gd name="adj" fmla="val 17241"/>
              </a:avLst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941477" y="5734050"/>
              <a:ext cx="430904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Mô hình minh họa, không thay thiết bị an toàn công nghiệp.</a:t>
              </a:r>
            </a:p>
          </p:txBody>
        </p:sp>
      </p:grpSp>
    </p:spTree>
    <p:extLst>
      <p:ext uri="{BB962C8B-B14F-4D97-AF65-F5344CB8AC3E}">
        <p14:creationId val="987231680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khoguard-content"/>
          <p:cNvGrpSpPr/>
          <p:nvPr/>
        </p:nvGrpSpPr>
        <p:grpSpPr>
          <a:xfrm>
            <a:off x="273281" y="733425"/>
            <a:ext cx="11156719" cy="4057650"/>
            <a:chOff x="273281" y="733425"/>
            <a:chExt cx="11156719" cy="4057650"/>
          </a:xfrm>
        </p:grpSpPr>
        <p:sp>
          <p:nvSpPr>
            <p:cNvPr id="2" name="TextBox 2"/>
            <p:cNvSpPr txBox="1"/>
            <p:nvPr/>
          </p:nvSpPr>
          <p:spPr>
            <a:xfrm>
              <a:off x="2532326" y="733425"/>
              <a:ext cx="712734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Một luồng đơn giản: đo → quyết định → báo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712470" y="1349375"/>
              <a:ext cx="27670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Mỗi phần có một nhiệm vụ rõ ràng.</a:t>
              </a:r>
            </a:p>
          </p:txBody>
        </p:sp>
        <p:sp>
          <p:nvSpPr>
            <p:cNvPr id="4" name="flow-card-0"/>
            <p:cNvSpPr/>
            <p:nvPr/>
          </p:nvSpPr>
          <p:spPr>
            <a:xfrm>
              <a:off x="762000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5" name="flow-dot-0"/>
            <p:cNvSpPr/>
            <p:nvPr/>
          </p:nvSpPr>
          <p:spPr>
            <a:xfrm>
              <a:off x="876300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19769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875146" y="3076575"/>
              <a:ext cx="2835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Đo</a:t>
              </a:r>
            </a:p>
          </p:txBody>
        </p:sp>
        <p:sp>
          <p:nvSpPr>
            <p:cNvPr id="8" name="flow-detail-0"/>
            <p:cNvSpPr txBox="1"/>
            <p:nvPr/>
          </p:nvSpPr>
          <p:spPr>
            <a:xfrm>
              <a:off x="273281" y="3597275"/>
              <a:ext cx="1282239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DHT22 · RFID · PIR ·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sonar · cửa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29430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10" name="flow-card-1"/>
            <p:cNvSpPr/>
            <p:nvPr/>
          </p:nvSpPr>
          <p:spPr>
            <a:xfrm>
              <a:off x="3481388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11" name="flow-dot-1"/>
            <p:cNvSpPr/>
            <p:nvPr/>
          </p:nvSpPr>
          <p:spPr>
            <a:xfrm>
              <a:off x="3595688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39156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10721" y="3076575"/>
              <a:ext cx="10511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Quyết định</a:t>
              </a:r>
            </a:p>
          </p:txBody>
        </p:sp>
        <p:sp>
          <p:nvSpPr>
            <p:cNvPr id="14" name="flow-detail-1"/>
            <p:cNvSpPr txBox="1"/>
            <p:nvPr/>
          </p:nvSpPr>
          <p:spPr>
            <a:xfrm>
              <a:off x="2895222" y="3597275"/>
              <a:ext cx="1477132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ESP32 áp dụng luật an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toàn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948818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16" name="flow-card-2"/>
            <p:cNvSpPr/>
            <p:nvPr/>
          </p:nvSpPr>
          <p:spPr>
            <a:xfrm>
              <a:off x="6200775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17" name="flow-dot-2"/>
            <p:cNvSpPr/>
            <p:nvPr/>
          </p:nvSpPr>
          <p:spPr>
            <a:xfrm>
              <a:off x="6315075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58544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278018" y="3076575"/>
              <a:ext cx="3553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Lưu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670572" y="3609975"/>
              <a:ext cx="136520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Backend → MySQL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68205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22" name="flow-card-3"/>
            <p:cNvSpPr/>
            <p:nvPr/>
          </p:nvSpPr>
          <p:spPr>
            <a:xfrm>
              <a:off x="8920162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23" name="flow-dot-3"/>
            <p:cNvSpPr/>
            <p:nvPr/>
          </p:nvSpPr>
          <p:spPr>
            <a:xfrm>
              <a:off x="9034462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7931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955356" y="3076575"/>
              <a:ext cx="4394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Xem</a:t>
              </a:r>
            </a:p>
          </p:txBody>
        </p:sp>
        <p:sp>
          <p:nvSpPr>
            <p:cNvPr id="26" name="flow-detail-3"/>
            <p:cNvSpPr txBox="1"/>
            <p:nvPr/>
          </p:nvSpPr>
          <p:spPr>
            <a:xfrm>
              <a:off x="8508830" y="3597275"/>
              <a:ext cx="1127465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React vận hành ·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ThingsBoard phụ</a:t>
              </a:r>
            </a:p>
          </p:txBody>
        </p:sp>
      </p:grpSp>
    </p:spTree>
    <p:extLst>
      <p:ext uri="{BB962C8B-B14F-4D97-AF65-F5344CB8AC3E}">
        <p14:creationId val="261463902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khoguard-content"/>
          <p:cNvGrpSpPr/>
          <p:nvPr/>
        </p:nvGrpSpPr>
        <p:grpSpPr>
          <a:xfrm>
            <a:off x="762000" y="733425"/>
            <a:ext cx="10668000" cy="5029200"/>
            <a:chOff x="762000" y="733425"/>
            <a:chExt cx="10668000" cy="5029200"/>
          </a:xfrm>
        </p:grpSpPr>
        <p:sp>
          <p:nvSpPr>
            <p:cNvPr id="2" name="TextBox 2"/>
            <p:cNvSpPr txBox="1"/>
            <p:nvPr/>
          </p:nvSpPr>
          <p:spPr>
            <a:xfrm>
              <a:off x="3605664" y="733425"/>
              <a:ext cx="498067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Phạm vi vận hành được rút gọn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178044" y="1349375"/>
              <a:ext cx="5835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Các khu cũ còn trong MySQL chỉ là lịch sử, không thuộc phạm vi hoạt động.</a:t>
              </a:r>
            </a:p>
          </p:txBody>
        </p:sp>
        <p:sp>
          <p:nvSpPr>
            <p:cNvPr id="4" name="stat-0"/>
            <p:cNvSpPr/>
            <p:nvPr/>
          </p:nvSpPr>
          <p:spPr>
            <a:xfrm>
              <a:off x="762000" y="1952625"/>
              <a:ext cx="3441700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353514" y="2178050"/>
              <a:ext cx="2586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251832" y="2787650"/>
              <a:ext cx="4620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khu C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957466" y="3203575"/>
              <a:ext cx="10507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Kho lạnh WH01</a:t>
              </a:r>
            </a:p>
          </p:txBody>
        </p:sp>
        <p:sp>
          <p:nvSpPr>
            <p:cNvPr id="8" name="stat-1"/>
            <p:cNvSpPr/>
            <p:nvPr/>
          </p:nvSpPr>
          <p:spPr>
            <a:xfrm>
              <a:off x="4375150" y="1952625"/>
              <a:ext cx="3441700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66664" y="2178050"/>
              <a:ext cx="2586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751271" y="2787650"/>
              <a:ext cx="6894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ESP-C01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462315" y="3203575"/>
              <a:ext cx="12673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ESP32 chạy Wokwi</a:t>
              </a:r>
            </a:p>
          </p:txBody>
        </p:sp>
        <p:sp>
          <p:nvSpPr>
            <p:cNvPr id="12" name="stat-2"/>
            <p:cNvSpPr/>
            <p:nvPr/>
          </p:nvSpPr>
          <p:spPr>
            <a:xfrm>
              <a:off x="7988300" y="1952625"/>
              <a:ext cx="3441700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579814" y="2178050"/>
              <a:ext cx="2586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563434" y="2787650"/>
              <a:ext cx="2914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cửa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999946" y="3203575"/>
              <a:ext cx="141840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D07 và D08 liên động</a:t>
              </a:r>
            </a:p>
          </p:txBody>
        </p:sp>
        <p:sp>
          <p:nvSpPr>
            <p:cNvPr id="16" name="stat-3"/>
            <p:cNvSpPr/>
            <p:nvPr/>
          </p:nvSpPr>
          <p:spPr>
            <a:xfrm>
              <a:off x="762000" y="3952875"/>
              <a:ext cx="3441700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240942" y="4178300"/>
              <a:ext cx="48381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78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58354" y="4787900"/>
              <a:ext cx="12489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vị trí dùng được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814440" y="5203825"/>
              <a:ext cx="13368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80 vật lý, trừ 2 xả đá</a:t>
              </a:r>
            </a:p>
          </p:txBody>
        </p:sp>
      </p:grpSp>
    </p:spTree>
    <p:extLst>
      <p:ext uri="{BB962C8B-B14F-4D97-AF65-F5344CB8AC3E}">
        <p14:creationId val="367745104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khoguard-content"/>
          <p:cNvGrpSpPr/>
          <p:nvPr/>
        </p:nvGrpSpPr>
        <p:grpSpPr>
          <a:xfrm>
            <a:off x="167617" y="714375"/>
            <a:ext cx="11262383" cy="4076700"/>
            <a:chOff x="167617" y="714375"/>
            <a:chExt cx="11262383" cy="4076700"/>
          </a:xfrm>
        </p:grpSpPr>
        <p:sp>
          <p:nvSpPr>
            <p:cNvPr id="2" name="TextBox 2"/>
            <p:cNvSpPr txBox="1"/>
            <p:nvPr/>
          </p:nvSpPr>
          <p:spPr>
            <a:xfrm>
              <a:off x="2307017" y="714375"/>
              <a:ext cx="75779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ESP32 xử lý tại chỗ; website lưu và hiển thị trạng thái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727700" y="1530350"/>
              <a:ext cx="27366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Bốn lớp trong đường đi của dữ liệu.</a:t>
              </a:r>
            </a:p>
          </p:txBody>
        </p:sp>
        <p:sp>
          <p:nvSpPr>
            <p:cNvPr id="4" name="flow-card-0"/>
            <p:cNvSpPr/>
            <p:nvPr/>
          </p:nvSpPr>
          <p:spPr>
            <a:xfrm>
              <a:off x="762000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5" name="flow-dot-0"/>
            <p:cNvSpPr/>
            <p:nvPr/>
          </p:nvSpPr>
          <p:spPr>
            <a:xfrm>
              <a:off x="876300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19769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616383" y="3076575"/>
              <a:ext cx="801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ESP-C01</a:t>
              </a:r>
            </a:p>
          </p:txBody>
        </p:sp>
        <p:sp>
          <p:nvSpPr>
            <p:cNvPr id="8" name="flow-detail-0"/>
            <p:cNvSpPr txBox="1"/>
            <p:nvPr/>
          </p:nvSpPr>
          <p:spPr>
            <a:xfrm>
              <a:off x="167617" y="3597275"/>
              <a:ext cx="1493567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Đọc cảm biến, xử lý tại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chỗ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29430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10" name="flow-card-1"/>
            <p:cNvSpPr/>
            <p:nvPr/>
          </p:nvSpPr>
          <p:spPr>
            <a:xfrm>
              <a:off x="3481388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11" name="flow-dot-1"/>
            <p:cNvSpPr/>
            <p:nvPr/>
          </p:nvSpPr>
          <p:spPr>
            <a:xfrm>
              <a:off x="3595688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39156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0324" y="3076575"/>
              <a:ext cx="11519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MQTT / API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05009" y="3609975"/>
              <a:ext cx="165755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Nhận trạng thái và lệnh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948818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16" name="flow-card-2"/>
            <p:cNvSpPr/>
            <p:nvPr/>
          </p:nvSpPr>
          <p:spPr>
            <a:xfrm>
              <a:off x="6200775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17" name="flow-dot-2"/>
            <p:cNvSpPr/>
            <p:nvPr/>
          </p:nvSpPr>
          <p:spPr>
            <a:xfrm>
              <a:off x="6315075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58544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07259" y="3076575"/>
              <a:ext cx="6968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MySQL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567561" y="3609975"/>
              <a:ext cx="1571229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Lưu telemetry, sự kiện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68205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22" name="flow-card-3"/>
            <p:cNvSpPr/>
            <p:nvPr/>
          </p:nvSpPr>
          <p:spPr>
            <a:xfrm>
              <a:off x="8920162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23" name="flow-dot-3"/>
            <p:cNvSpPr/>
            <p:nvPr/>
          </p:nvSpPr>
          <p:spPr>
            <a:xfrm>
              <a:off x="9034462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7931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3515" y="3076575"/>
              <a:ext cx="9031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Giao diện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35521" y="3609975"/>
              <a:ext cx="167408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React chính · Cloud phụ</a:t>
              </a:r>
            </a:p>
          </p:txBody>
        </p:sp>
      </p:grpSp>
    </p:spTree>
    <p:extLst>
      <p:ext uri="{BB962C8B-B14F-4D97-AF65-F5344CB8AC3E}">
        <p14:creationId val="392869719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khoguard-chapter"/>
          <p:cNvGrpSpPr/>
          <p:nvPr/>
        </p:nvGrpSpPr>
        <p:grpSpPr>
          <a:xfrm>
            <a:off x="2304160" y="2095500"/>
            <a:ext cx="7583680" cy="3009900"/>
            <a:chOff x="2304160" y="2095500"/>
            <a:chExt cx="7583680" cy="3009900"/>
          </a:xfrm>
        </p:grpSpPr>
        <p:sp>
          <p:nvSpPr>
            <p:cNvPr id="2" name="chapter-ring"/>
            <p:cNvSpPr/>
            <p:nvPr/>
          </p:nvSpPr>
          <p:spPr>
            <a:xfrm>
              <a:off x="5476875" y="2095500"/>
              <a:ext cx="1238250" cy="1238250"/>
            </a:xfrm>
            <a:prstGeom prst="ellipse">
              <a:avLst/>
            </a:prstGeom>
            <a:solidFill>
              <a:srgbClr val="FFFFFF"/>
            </a:solidFill>
            <a:ln w="76200">
              <a:solidFill>
                <a:srgbClr val="FEC01D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10545" y="2546350"/>
              <a:ext cx="13709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1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CHƯƠNG 2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2304160" y="3543300"/>
              <a:ext cx="7583680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2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Chương 2 · Linh kiện và an toàn mô phỏng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4117367" y="4400550"/>
              <a:ext cx="3957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Từ tín hiệu đầu vào tới hành động minh họa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4095750" y="5095875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47625" cap="rnd">
              <a:solidFill>
                <a:srgbClr val="FEC01D"/>
              </a:solidFill>
            </a:ln>
          </p:spPr>
        </p:sp>
      </p:grpSp>
    </p:spTree>
    <p:extLst>
      <p:ext uri="{BB962C8B-B14F-4D97-AF65-F5344CB8AC3E}">
        <p14:creationId val="331935195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khoguard-content"/>
          <p:cNvGrpSpPr/>
          <p:nvPr/>
        </p:nvGrpSpPr>
        <p:grpSpPr>
          <a:xfrm>
            <a:off x="666750" y="714375"/>
            <a:ext cx="10810875" cy="5191125"/>
            <a:chOff x="666750" y="714375"/>
            <a:chExt cx="10810875" cy="5191125"/>
          </a:xfrm>
        </p:grpSpPr>
        <p:sp>
          <p:nvSpPr>
            <p:cNvPr id="2" name="TextBox 2"/>
            <p:cNvSpPr txBox="1"/>
            <p:nvPr/>
          </p:nvSpPr>
          <p:spPr>
            <a:xfrm>
              <a:off x="2178894" y="714375"/>
              <a:ext cx="78342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Các linh kiện chia thành cảm biến, điều khiển và đầu ra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163379" y="1530350"/>
              <a:ext cx="38652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Tổng cộng 30 phần tử điện trong diagram Wokwi.</a:t>
              </a:r>
            </a:p>
          </p:txBody>
        </p:sp>
        <p:sp>
          <p:nvSpPr>
            <p:cNvPr id="4" name="kg-main-image-frame"/>
            <p:cNvSpPr/>
            <p:nvPr/>
          </p:nvSpPr>
          <p:spPr>
            <a:xfrm>
              <a:off x="666750" y="2047875"/>
              <a:ext cx="6667500" cy="3857625"/>
            </a:xfrm>
            <a:prstGeom prst="roundRect">
              <a:avLst>
                <a:gd name="adj" fmla="val 1975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pic>
          <p:nvPicPr>
            <p:cNvPr id="5" name="kg-main-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3425" y="2137981"/>
              <a:ext cx="6534150" cy="3677413"/>
            </a:xfrm>
            <a:prstGeom prst="rect">
              <a:avLst/>
            </a:prstGeom>
          </p:spPr>
        </p:pic>
        <p:sp>
          <p:nvSpPr>
            <p:cNvPr id="6" name="sidebar-0"/>
            <p:cNvSpPr/>
            <p:nvPr/>
          </p:nvSpPr>
          <p:spPr>
            <a:xfrm>
              <a:off x="7620000" y="2066925"/>
              <a:ext cx="3857625" cy="1066800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65161" y="2216150"/>
              <a:ext cx="10960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Nhận tín hiệu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66304" y="2574925"/>
              <a:ext cx="245081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DHT22 · MFRC522 · PIR · 2 HC-SR04</a:t>
              </a:r>
            </a:p>
          </p:txBody>
        </p:sp>
        <p:sp>
          <p:nvSpPr>
            <p:cNvPr id="9" name="sidebar-1"/>
            <p:cNvSpPr/>
            <p:nvPr/>
          </p:nvSpPr>
          <p:spPr>
            <a:xfrm>
              <a:off x="7620000" y="3286125"/>
              <a:ext cx="3857625" cy="1066800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65161" y="3435350"/>
              <a:ext cx="8693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Điều khiển</a:t>
              </a:r>
            </a:p>
          </p:txBody>
        </p:sp>
        <p:sp>
          <p:nvSpPr>
            <p:cNvPr id="11" name="sidebar-body-1"/>
            <p:cNvSpPr txBox="1"/>
            <p:nvPr/>
          </p:nvSpPr>
          <p:spPr>
            <a:xfrm>
              <a:off x="7766304" y="3794125"/>
              <a:ext cx="2643637" cy="425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ESP32 đọc contact, công tắc chiều và 2 nút</a:t>
              </a:r>
              <a:b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Panic.</a:t>
              </a:r>
            </a:p>
          </p:txBody>
        </p:sp>
        <p:sp>
          <p:nvSpPr>
            <p:cNvPr id="12" name="sidebar-2"/>
            <p:cNvSpPr/>
            <p:nvPr/>
          </p:nvSpPr>
          <p:spPr>
            <a:xfrm>
              <a:off x="7620000" y="4505325"/>
              <a:ext cx="3857625" cy="1066800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765161" y="4654550"/>
              <a:ext cx="13310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Minh họa đầu ra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66304" y="5013325"/>
              <a:ext cx="20897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2 servo · 3 relay · 5 LED · buzzer</a:t>
              </a:r>
            </a:p>
          </p:txBody>
        </p:sp>
      </p:grpSp>
    </p:spTree>
    <p:extLst>
      <p:ext uri="{BB962C8B-B14F-4D97-AF65-F5344CB8AC3E}">
        <p14:creationId val="1894503094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AAAA3448-AA04-E346-EC4C-7617A5F3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khoguard-content"/>
          <p:cNvGrpSpPr/>
          <p:nvPr/>
        </p:nvGrpSpPr>
        <p:grpSpPr>
          <a:xfrm>
            <a:off x="1095375" y="733425"/>
            <a:ext cx="10001250" cy="5569903"/>
            <a:chOff x="1095375" y="733425"/>
            <a:chExt cx="10001250" cy="5569903"/>
          </a:xfrm>
        </p:grpSpPr>
        <p:sp>
          <p:nvSpPr>
            <p:cNvPr id="2" name="TextBox 2"/>
            <p:cNvSpPr txBox="1"/>
            <p:nvPr/>
          </p:nvSpPr>
          <p:spPr>
            <a:xfrm>
              <a:off x="3556369" y="733425"/>
              <a:ext cx="507926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Đầu vào nối về GPIO của ESP32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156275" y="1349375"/>
              <a:ext cx="38794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Bản tổng hợp để phóng lớn và đọc GPIO trực tiếp.</a:t>
              </a:r>
            </a:p>
          </p:txBody>
        </p:sp>
        <p:sp>
          <p:nvSpPr>
            <p:cNvPr id="4" name="kg-wiring-diagram-frame"/>
            <p:cNvSpPr/>
            <p:nvPr/>
          </p:nvSpPr>
          <p:spPr>
            <a:xfrm>
              <a:off x="1095375" y="1952625"/>
              <a:ext cx="10001250" cy="4000500"/>
            </a:xfrm>
            <a:prstGeom prst="roundRect">
              <a:avLst>
                <a:gd name="adj" fmla="val 1905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pic>
          <p:nvPicPr>
            <p:cNvPr id="5" name="kg-wiring-diagram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19910" y="2019300"/>
              <a:ext cx="6952180" cy="3867150"/>
            </a:xfrm>
            <a:prstGeom prst="rect">
              <a:avLst/>
            </a:prstGeom>
          </p:spPr>
        </p:pic>
        <p:sp>
          <p:nvSpPr>
            <p:cNvPr id="6" name="TextBox 6"/>
            <p:cNvSpPr txBox="1"/>
            <p:nvPr/>
          </p:nvSpPr>
          <p:spPr>
            <a:xfrm>
              <a:off x="2778015" y="6083300"/>
              <a:ext cx="6635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Sơ đồ mô phỏng số trong Wokwi. ECHO 5 V chỉ nối trực tiếp trong mô phỏng; mạch thật cần hạ xuống 3,3 V.</a:t>
              </a:r>
            </a:p>
          </p:txBody>
        </p:sp>
      </p:grpSp>
    </p:spTree>
    <p:extLst>
      <p:ext uri="{BB962C8B-B14F-4D97-AF65-F5344CB8AC3E}">
        <p14:creationId val="3965373901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khoguard-content"/>
          <p:cNvGrpSpPr/>
          <p:nvPr/>
        </p:nvGrpSpPr>
        <p:grpSpPr>
          <a:xfrm>
            <a:off x="762000" y="733425"/>
            <a:ext cx="10668000" cy="4552950"/>
            <a:chOff x="762000" y="733425"/>
            <a:chExt cx="10668000" cy="4552950"/>
          </a:xfrm>
        </p:grpSpPr>
        <p:sp>
          <p:nvSpPr>
            <p:cNvPr id="2" name="TextBox 2"/>
            <p:cNvSpPr txBox="1"/>
            <p:nvPr/>
          </p:nvSpPr>
          <p:spPr>
            <a:xfrm>
              <a:off x="3288632" y="733425"/>
              <a:ext cx="561473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Đầu ra là công tắc và đèn minh họa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312557" y="1349375"/>
              <a:ext cx="35668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Sơ đồ mô phỏng không cấp tải công suất thật.</a:t>
              </a:r>
            </a:p>
          </p:txBody>
        </p:sp>
        <p:sp>
          <p:nvSpPr>
            <p:cNvPr id="4" name="card-0"/>
            <p:cNvSpPr/>
            <p:nvPr/>
          </p:nvSpPr>
          <p:spPr>
            <a:xfrm>
              <a:off x="7620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card-band-0"/>
            <p:cNvSpPr/>
            <p:nvPr/>
          </p:nvSpPr>
          <p:spPr>
            <a:xfrm>
              <a:off x="762000" y="1952625"/>
              <a:ext cx="3441700" cy="11430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25068" y="2219325"/>
              <a:ext cx="36972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Cửa</a:t>
              </a:r>
            </a:p>
          </p:txBody>
        </p:sp>
        <p:sp>
          <p:nvSpPr>
            <p:cNvPr id="7" name="card-body-0"/>
            <p:cNvSpPr txBox="1"/>
            <p:nvPr/>
          </p:nvSpPr>
          <p:spPr>
            <a:xfrm>
              <a:off x="926592" y="2689225"/>
              <a:ext cx="2329165" cy="7212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Relay khóa D07/D08: GPIO25/26.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Servo: GPIO27/14, 0° đóng, 90°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mở.</a:t>
              </a:r>
            </a:p>
          </p:txBody>
        </p:sp>
        <p:sp>
          <p:nvSpPr>
            <p:cNvPr id="8" name="card-1"/>
            <p:cNvSpPr/>
            <p:nvPr/>
          </p:nvSpPr>
          <p:spPr>
            <a:xfrm>
              <a:off x="437515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card-band-1"/>
            <p:cNvSpPr/>
            <p:nvPr/>
          </p:nvSpPr>
          <p:spPr>
            <a:xfrm>
              <a:off x="4375150" y="1952625"/>
              <a:ext cx="3441700" cy="114300"/>
            </a:xfrm>
            <a:prstGeom prst="rect">
              <a:avLst/>
            </a:prstGeom>
            <a:solidFill>
              <a:srgbClr val="4CC4E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38218" y="2219325"/>
              <a:ext cx="8878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Cảnh báo</a:t>
              </a:r>
            </a:p>
          </p:txBody>
        </p:sp>
        <p:sp>
          <p:nvSpPr>
            <p:cNvPr id="11" name="card-body-1"/>
            <p:cNvSpPr txBox="1"/>
            <p:nvPr/>
          </p:nvSpPr>
          <p:spPr>
            <a:xfrm>
              <a:off x="4539742" y="2689225"/>
              <a:ext cx="2315244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Đèn GPIO32; buzzer GPIO33. LED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el-GR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dùng điện trở nối tiếp 220 Ω.</a:t>
              </a:r>
            </a:p>
          </p:txBody>
        </p:sp>
        <p:sp>
          <p:nvSpPr>
            <p:cNvPr id="12" name="card-2"/>
            <p:cNvSpPr/>
            <p:nvPr/>
          </p:nvSpPr>
          <p:spPr>
            <a:xfrm>
              <a:off x="79883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card-band-2"/>
            <p:cNvSpPr/>
            <p:nvPr/>
          </p:nvSpPr>
          <p:spPr>
            <a:xfrm>
              <a:off x="7988300" y="1952625"/>
              <a:ext cx="3441700" cy="114300"/>
            </a:xfrm>
            <a:prstGeom prst="rect">
              <a:avLst/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51368" y="2219325"/>
              <a:ext cx="10430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Sưởi / quạt</a:t>
              </a:r>
            </a:p>
          </p:txBody>
        </p:sp>
        <p:sp>
          <p:nvSpPr>
            <p:cNvPr id="15" name="card-body-2"/>
            <p:cNvSpPr txBox="1"/>
            <p:nvPr/>
          </p:nvSpPr>
          <p:spPr>
            <a:xfrm>
              <a:off x="8152892" y="2689225"/>
              <a:ext cx="2223244" cy="949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Relay GPIO4 đổi hai LED. Nguồn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logic 3V3; servo, sonar, PIR và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relay dùng VIN 5V trong mô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phỏng.</a:t>
              </a:r>
            </a:p>
          </p:txBody>
        </p:sp>
      </p:grpSp>
    </p:spTree>
    <p:extLst>
      <p:ext uri="{BB962C8B-B14F-4D97-AF65-F5344CB8AC3E}">
        <p14:creationId val="987231680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khoguard-content"/>
          <p:cNvGrpSpPr/>
          <p:nvPr/>
        </p:nvGrpSpPr>
        <p:grpSpPr>
          <a:xfrm>
            <a:off x="666750" y="714375"/>
            <a:ext cx="10810875" cy="5191125"/>
            <a:chOff x="666750" y="714375"/>
            <a:chExt cx="10810875" cy="5191125"/>
          </a:xfrm>
        </p:grpSpPr>
        <p:sp>
          <p:nvSpPr>
            <p:cNvPr id="2" name="TextBox 2"/>
            <p:cNvSpPr txBox="1"/>
            <p:nvPr/>
          </p:nvSpPr>
          <p:spPr>
            <a:xfrm>
              <a:off x="2135010" y="714375"/>
              <a:ext cx="79219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ESP32 chỉ nhận lệnh đóng khi các điều kiện đều an toàn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434619" y="1530350"/>
              <a:ext cx="332276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D07 mở thì D08 không được mở đồng thời.</a:t>
              </a:r>
            </a:p>
          </p:txBody>
        </p:sp>
        <p:sp>
          <p:nvSpPr>
            <p:cNvPr id="4" name="kg-main-image-frame"/>
            <p:cNvSpPr/>
            <p:nvPr/>
          </p:nvSpPr>
          <p:spPr>
            <a:xfrm>
              <a:off x="666750" y="2047875"/>
              <a:ext cx="6667500" cy="3857625"/>
            </a:xfrm>
            <a:prstGeom prst="roundRect">
              <a:avLst>
                <a:gd name="adj" fmla="val 1975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pic>
          <p:nvPicPr>
            <p:cNvPr id="5" name="kg-main-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3425" y="2137981"/>
              <a:ext cx="6534150" cy="3677413"/>
            </a:xfrm>
            <a:prstGeom prst="rect">
              <a:avLst/>
            </a:prstGeom>
          </p:spPr>
        </p:pic>
        <p:sp>
          <p:nvSpPr>
            <p:cNvPr id="6" name="sidebar-0"/>
            <p:cNvSpPr/>
            <p:nvPr/>
          </p:nvSpPr>
          <p:spPr>
            <a:xfrm>
              <a:off x="7620000" y="2066925"/>
              <a:ext cx="3857625" cy="1066800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765161" y="2216150"/>
              <a:ext cx="766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Điều kiện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766304" y="2574925"/>
              <a:ext cx="25088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Người được xác minh và count bằng 0.</a:t>
              </a:r>
            </a:p>
          </p:txBody>
        </p:sp>
        <p:sp>
          <p:nvSpPr>
            <p:cNvPr id="9" name="sidebar-1"/>
            <p:cNvSpPr/>
            <p:nvPr/>
          </p:nvSpPr>
          <p:spPr>
            <a:xfrm>
              <a:off x="7620000" y="3286125"/>
              <a:ext cx="3857625" cy="1066800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765161" y="3435350"/>
              <a:ext cx="61393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Vật cản</a:t>
              </a:r>
            </a:p>
          </p:txBody>
        </p:sp>
        <p:sp>
          <p:nvSpPr>
            <p:cNvPr id="11" name="sidebar-body-1"/>
            <p:cNvSpPr txBox="1"/>
            <p:nvPr/>
          </p:nvSpPr>
          <p:spPr>
            <a:xfrm>
              <a:off x="7766304" y="3794125"/>
              <a:ext cx="2545720" cy="425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PIR không báo chuyển động; sonar thông</a:t>
              </a:r>
              <a:b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thoáng.</a:t>
              </a:r>
            </a:p>
          </p:txBody>
        </p:sp>
        <p:sp>
          <p:nvSpPr>
            <p:cNvPr id="12" name="sidebar-2"/>
            <p:cNvSpPr/>
            <p:nvPr/>
          </p:nvSpPr>
          <p:spPr>
            <a:xfrm>
              <a:off x="7620000" y="4505325"/>
              <a:ext cx="3857625" cy="1066800"/>
            </a:xfrm>
            <a:prstGeom prst="roundRect">
              <a:avLst>
                <a:gd name="adj" fmla="val 89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765161" y="4654550"/>
              <a:ext cx="7882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Liên động</a:t>
              </a:r>
            </a:p>
          </p:txBody>
        </p:sp>
        <p:sp>
          <p:nvSpPr>
            <p:cNvPr id="14" name="sidebar-body-2"/>
            <p:cNvSpPr txBox="1"/>
            <p:nvPr/>
          </p:nvSpPr>
          <p:spPr>
            <a:xfrm>
              <a:off x="7766304" y="5013325"/>
              <a:ext cx="2557348" cy="4251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Cửa còn lại đóng; input rõ và Panic không</a:t>
              </a:r>
              <a:b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hoạt động.</a:t>
              </a:r>
            </a:p>
          </p:txBody>
        </p:sp>
      </p:grpSp>
    </p:spTree>
    <p:extLst>
      <p:ext uri="{BB962C8B-B14F-4D97-AF65-F5344CB8AC3E}">
        <p14:creationId val="392869719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khoguard-content"/>
          <p:cNvGrpSpPr/>
          <p:nvPr/>
        </p:nvGrpSpPr>
        <p:grpSpPr>
          <a:xfrm>
            <a:off x="762000" y="733425"/>
            <a:ext cx="10668000" cy="5010150"/>
            <a:chOff x="762000" y="733425"/>
            <a:chExt cx="10668000" cy="5010150"/>
          </a:xfrm>
        </p:grpSpPr>
        <p:sp>
          <p:nvSpPr>
            <p:cNvPr id="2" name="TextBox 2"/>
            <p:cNvSpPr txBox="1"/>
            <p:nvPr/>
          </p:nvSpPr>
          <p:spPr>
            <a:xfrm>
              <a:off x="3163865" y="733425"/>
              <a:ext cx="586427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Mỗi thời điểm có một cách phản ứng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066906" y="1349375"/>
              <a:ext cx="40581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Các mốc thời gian thuộc những điều kiện khác nhau.</a:t>
              </a:r>
            </a:p>
          </p:txBody>
        </p:sp>
        <p:sp>
          <p:nvSpPr>
            <p:cNvPr id="4" name="matrix-0"/>
            <p:cNvSpPr/>
            <p:nvPr/>
          </p:nvSpPr>
          <p:spPr>
            <a:xfrm>
              <a:off x="762000" y="19526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matrix-strip-0"/>
            <p:cNvSpPr/>
            <p:nvPr/>
          </p:nvSpPr>
          <p:spPr>
            <a:xfrm>
              <a:off x="762000" y="1952625"/>
              <a:ext cx="114300" cy="180975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21080" y="2193925"/>
              <a:ext cx="4699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Panic</a:t>
              </a:r>
            </a:p>
          </p:txBody>
        </p:sp>
        <p:sp>
          <p:nvSpPr>
            <p:cNvPr id="7" name="matrix-body-0"/>
            <p:cNvSpPr txBox="1"/>
            <p:nvPr/>
          </p:nvSpPr>
          <p:spPr>
            <a:xfrm>
              <a:off x="1022223" y="2578100"/>
              <a:ext cx="3291236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Phản ứng tại chỗ ngay; latch giữ đến khi reset hợp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lệ.</a:t>
              </a:r>
            </a:p>
          </p:txBody>
        </p:sp>
        <p:sp>
          <p:nvSpPr>
            <p:cNvPr id="8" name="matrix-1"/>
            <p:cNvSpPr/>
            <p:nvPr/>
          </p:nvSpPr>
          <p:spPr>
            <a:xfrm>
              <a:off x="6181725" y="19526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matrix-strip-1"/>
            <p:cNvSpPr/>
            <p:nvPr/>
          </p:nvSpPr>
          <p:spPr>
            <a:xfrm>
              <a:off x="6181725" y="1952625"/>
              <a:ext cx="114300" cy="1809750"/>
            </a:xfrm>
            <a:prstGeom prst="rect">
              <a:avLst/>
            </a:prstGeom>
            <a:solidFill>
              <a:srgbClr val="4CC4E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40805" y="2193925"/>
              <a:ext cx="6062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30 giây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41948" y="2590800"/>
              <a:ext cx="2477142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Cửa còn mở → cảnh báo mức nhắc.</a:t>
              </a:r>
            </a:p>
          </p:txBody>
        </p:sp>
        <p:sp>
          <p:nvSpPr>
            <p:cNvPr id="12" name="matrix-2"/>
            <p:cNvSpPr/>
            <p:nvPr/>
          </p:nvSpPr>
          <p:spPr>
            <a:xfrm>
              <a:off x="762000" y="39338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FF8E2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matrix-strip-2"/>
            <p:cNvSpPr/>
            <p:nvPr/>
          </p:nvSpPr>
          <p:spPr>
            <a:xfrm>
              <a:off x="762000" y="3933825"/>
              <a:ext cx="114300" cy="1809750"/>
            </a:xfrm>
            <a:prstGeom prst="rect">
              <a:avLst/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21080" y="4175125"/>
              <a:ext cx="1040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Trên 60 giây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22223" y="4572000"/>
              <a:ext cx="335983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Cửa vẫn mở → cảnh báo nghiêm trọng, đèn/còi.</a:t>
              </a:r>
            </a:p>
          </p:txBody>
        </p:sp>
        <p:sp>
          <p:nvSpPr>
            <p:cNvPr id="16" name="matrix-3"/>
            <p:cNvSpPr/>
            <p:nvPr/>
          </p:nvSpPr>
          <p:spPr>
            <a:xfrm>
              <a:off x="6181725" y="39338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1F6FA"/>
            </a:solidFill>
            <a:ln w="19050">
              <a:solidFill>
                <a:srgbClr val="B8D5E7"/>
              </a:solidFill>
            </a:ln>
          </p:spPr>
        </p:sp>
        <p:sp>
          <p:nvSpPr>
            <p:cNvPr id="17" name="matrix-strip-3"/>
            <p:cNvSpPr/>
            <p:nvPr/>
          </p:nvSpPr>
          <p:spPr>
            <a:xfrm>
              <a:off x="6181725" y="3933825"/>
              <a:ext cx="114300" cy="1809750"/>
            </a:xfrm>
            <a:prstGeom prst="rect">
              <a:avLst/>
            </a:prstGeom>
            <a:solidFill>
              <a:srgbClr val="E81F2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40805" y="4175125"/>
              <a:ext cx="13273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10 giây / 5 phút</a:t>
              </a:r>
            </a:p>
          </p:txBody>
        </p:sp>
        <p:sp>
          <p:nvSpPr>
            <p:cNvPr id="19" name="matrix-body-3"/>
            <p:cNvSpPr txBox="1"/>
            <p:nvPr/>
          </p:nvSpPr>
          <p:spPr>
            <a:xfrm>
              <a:off x="6441948" y="4559300"/>
              <a:ext cx="3411157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Contact không xác nhận: lỗi hành trình. PIR kéo dài: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cảnh báo nguy cơ mắc kẹt theo điều kiện mô hình.</a:t>
              </a:r>
            </a:p>
          </p:txBody>
        </p:sp>
      </p:grpSp>
    </p:spTree>
    <p:extLst>
      <p:ext uri="{BB962C8B-B14F-4D97-AF65-F5344CB8AC3E}">
        <p14:creationId val="2464544392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khoguard-content"/>
          <p:cNvGrpSpPr/>
          <p:nvPr/>
        </p:nvGrpSpPr>
        <p:grpSpPr>
          <a:xfrm>
            <a:off x="762000" y="733425"/>
            <a:ext cx="10668000" cy="5029200"/>
            <a:chOff x="762000" y="733425"/>
            <a:chExt cx="10668000" cy="5029200"/>
          </a:xfrm>
        </p:grpSpPr>
        <p:sp>
          <p:nvSpPr>
            <p:cNvPr id="2" name="TextBox 2"/>
            <p:cNvSpPr txBox="1"/>
            <p:nvPr/>
          </p:nvSpPr>
          <p:spPr>
            <a:xfrm>
              <a:off x="2929017" y="733425"/>
              <a:ext cx="633396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Sức chứa khả dụng được tính minh bạch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2487012" y="1349375"/>
              <a:ext cx="72179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Giữ chỗ 15 phút; yêu cầu làm tổng tăng lên 75 bị từ chối. Chưa kết nối WMS/cảm biến pallet.</a:t>
              </a:r>
            </a:p>
          </p:txBody>
        </p:sp>
        <p:sp>
          <p:nvSpPr>
            <p:cNvPr id="4" name="stat-0"/>
            <p:cNvSpPr/>
            <p:nvPr/>
          </p:nvSpPr>
          <p:spPr>
            <a:xfrm>
              <a:off x="762000" y="1952625"/>
              <a:ext cx="3441700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240942" y="2178050"/>
              <a:ext cx="48381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80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057209" y="2787650"/>
              <a:ext cx="8512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vị trí vật lý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746770" y="3203575"/>
              <a:ext cx="1472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Tổng vị trí trong khu C</a:t>
              </a:r>
            </a:p>
          </p:txBody>
        </p:sp>
        <p:sp>
          <p:nvSpPr>
            <p:cNvPr id="8" name="stat-1"/>
            <p:cNvSpPr/>
            <p:nvPr/>
          </p:nvSpPr>
          <p:spPr>
            <a:xfrm>
              <a:off x="4375150" y="1952625"/>
              <a:ext cx="3441700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854092" y="2178050"/>
              <a:ext cx="48381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78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521110" y="2787650"/>
              <a:ext cx="11497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vị trí khả dụng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446665" y="3203575"/>
              <a:ext cx="12986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Đã loại 2 vị trí xả đá</a:t>
              </a:r>
            </a:p>
          </p:txBody>
        </p:sp>
        <p:sp>
          <p:nvSpPr>
            <p:cNvPr id="12" name="stat-2"/>
            <p:cNvSpPr/>
            <p:nvPr/>
          </p:nvSpPr>
          <p:spPr>
            <a:xfrm>
              <a:off x="7988300" y="1952625"/>
              <a:ext cx="3441700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67242" y="2178050"/>
              <a:ext cx="48381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60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952706" y="2787650"/>
              <a:ext cx="15128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đang chứa ban đầu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89811" y="3203575"/>
              <a:ext cx="12386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Dữ liệu demo seed</a:t>
              </a:r>
            </a:p>
          </p:txBody>
        </p:sp>
        <p:sp>
          <p:nvSpPr>
            <p:cNvPr id="16" name="stat-3"/>
            <p:cNvSpPr/>
            <p:nvPr/>
          </p:nvSpPr>
          <p:spPr>
            <a:xfrm>
              <a:off x="762000" y="3952875"/>
              <a:ext cx="3441700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240942" y="4178300"/>
              <a:ext cx="48381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74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669000" y="4787900"/>
              <a:ext cx="16277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mức tối đa cho phép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677394" y="5203825"/>
              <a:ext cx="16109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Không vượt ngưỡng 95%</a:t>
              </a:r>
            </a:p>
          </p:txBody>
        </p:sp>
      </p:grpSp>
    </p:spTree>
    <p:extLst>
      <p:ext uri="{BB962C8B-B14F-4D97-AF65-F5344CB8AC3E}">
        <p14:creationId val="3677451046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khoguard-chapter"/>
          <p:cNvGrpSpPr/>
          <p:nvPr/>
        </p:nvGrpSpPr>
        <p:grpSpPr>
          <a:xfrm>
            <a:off x="3324751" y="2095500"/>
            <a:ext cx="5542499" cy="3009900"/>
            <a:chOff x="3324751" y="2095500"/>
            <a:chExt cx="5542499" cy="3009900"/>
          </a:xfrm>
        </p:grpSpPr>
        <p:sp>
          <p:nvSpPr>
            <p:cNvPr id="2" name="chapter-ring"/>
            <p:cNvSpPr/>
            <p:nvPr/>
          </p:nvSpPr>
          <p:spPr>
            <a:xfrm>
              <a:off x="5476875" y="2095500"/>
              <a:ext cx="1238250" cy="1238250"/>
            </a:xfrm>
            <a:prstGeom prst="ellipse">
              <a:avLst/>
            </a:prstGeom>
            <a:solidFill>
              <a:srgbClr val="FFFFFF"/>
            </a:solidFill>
            <a:ln w="76200">
              <a:solidFill>
                <a:srgbClr val="FEC01D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10545" y="2546350"/>
              <a:ext cx="13709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1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CHƯƠNG 3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324751" y="3543300"/>
              <a:ext cx="5542499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2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Chương 3 · Triển khai hệ thống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486037" y="4400550"/>
              <a:ext cx="52199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Thiết bị gửi tín hiệu, phần mềm biến tín hiệu thành lịch sử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4095750" y="5095875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47625" cap="rnd">
              <a:solidFill>
                <a:srgbClr val="FEC01D"/>
              </a:solidFill>
            </a:ln>
          </p:spPr>
        </p:sp>
      </p:grpSp>
    </p:spTree>
    <p:extLst>
      <p:ext uri="{BB962C8B-B14F-4D97-AF65-F5344CB8AC3E}">
        <p14:creationId val="3319351958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khoguard-content"/>
          <p:cNvGrpSpPr/>
          <p:nvPr/>
        </p:nvGrpSpPr>
        <p:grpSpPr>
          <a:xfrm>
            <a:off x="762000" y="733425"/>
            <a:ext cx="10668000" cy="4552950"/>
            <a:chOff x="762000" y="733425"/>
            <a:chExt cx="10668000" cy="4552950"/>
          </a:xfrm>
        </p:grpSpPr>
        <p:sp>
          <p:nvSpPr>
            <p:cNvPr id="2" name="TextBox 2"/>
            <p:cNvSpPr txBox="1"/>
            <p:nvPr/>
          </p:nvSpPr>
          <p:spPr>
            <a:xfrm>
              <a:off x="2828057" y="733425"/>
              <a:ext cx="653588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Sáu công cụ ghép thành một luồng demo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867517" y="1349375"/>
              <a:ext cx="24569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Mỗi công cụ phụ trách một lớp.</a:t>
              </a:r>
            </a:p>
          </p:txBody>
        </p:sp>
        <p:sp>
          <p:nvSpPr>
            <p:cNvPr id="4" name="card-0"/>
            <p:cNvSpPr/>
            <p:nvPr/>
          </p:nvSpPr>
          <p:spPr>
            <a:xfrm>
              <a:off x="7620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card-band-0"/>
            <p:cNvSpPr/>
            <p:nvPr/>
          </p:nvSpPr>
          <p:spPr>
            <a:xfrm>
              <a:off x="762000" y="1952625"/>
              <a:ext cx="3441700" cy="11430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25068" y="2219325"/>
              <a:ext cx="20502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Firmware + mô phỏng</a:t>
              </a:r>
            </a:p>
          </p:txBody>
        </p:sp>
        <p:sp>
          <p:nvSpPr>
            <p:cNvPr id="7" name="card-body-0"/>
            <p:cNvSpPr txBox="1"/>
            <p:nvPr/>
          </p:nvSpPr>
          <p:spPr>
            <a:xfrm>
              <a:off x="926592" y="2689225"/>
              <a:ext cx="2147463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C++ / PlatformIO / Wokwi: đọc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đầu vào và mô phỏng ESP32.</a:t>
              </a:r>
            </a:p>
          </p:txBody>
        </p:sp>
        <p:sp>
          <p:nvSpPr>
            <p:cNvPr id="8" name="card-1"/>
            <p:cNvSpPr/>
            <p:nvPr/>
          </p:nvSpPr>
          <p:spPr>
            <a:xfrm>
              <a:off x="437515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card-band-1"/>
            <p:cNvSpPr/>
            <p:nvPr/>
          </p:nvSpPr>
          <p:spPr>
            <a:xfrm>
              <a:off x="4375150" y="1952625"/>
              <a:ext cx="3441700" cy="114300"/>
            </a:xfrm>
            <a:prstGeom prst="rect">
              <a:avLst/>
            </a:prstGeom>
            <a:solidFill>
              <a:srgbClr val="4CC4E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38218" y="2219325"/>
              <a:ext cx="16152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Tin nhắn + lịch sử</a:t>
              </a:r>
            </a:p>
          </p:txBody>
        </p:sp>
        <p:sp>
          <p:nvSpPr>
            <p:cNvPr id="11" name="card-body-1"/>
            <p:cNvSpPr txBox="1"/>
            <p:nvPr/>
          </p:nvSpPr>
          <p:spPr>
            <a:xfrm>
              <a:off x="4539742" y="2689225"/>
              <a:ext cx="2363078" cy="949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Mosquitto MQTT/TLS chuyển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telemetry, event, command, ACK;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Node.js và MySQL kiểm tra, lưu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dữ liệu.</a:t>
              </a:r>
            </a:p>
          </p:txBody>
        </p:sp>
        <p:sp>
          <p:nvSpPr>
            <p:cNvPr id="12" name="card-2"/>
            <p:cNvSpPr/>
            <p:nvPr/>
          </p:nvSpPr>
          <p:spPr>
            <a:xfrm>
              <a:off x="79883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card-band-2"/>
            <p:cNvSpPr/>
            <p:nvPr/>
          </p:nvSpPr>
          <p:spPr>
            <a:xfrm>
              <a:off x="7988300" y="1952625"/>
              <a:ext cx="3441700" cy="114300"/>
            </a:xfrm>
            <a:prstGeom prst="rect">
              <a:avLst/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51368" y="2219325"/>
              <a:ext cx="90926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Màn hình</a:t>
              </a:r>
            </a:p>
          </p:txBody>
        </p:sp>
        <p:sp>
          <p:nvSpPr>
            <p:cNvPr id="15" name="card-body-2"/>
            <p:cNvSpPr txBox="1"/>
            <p:nvPr/>
          </p:nvSpPr>
          <p:spPr>
            <a:xfrm>
              <a:off x="8152892" y="2689225"/>
              <a:ext cx="2411461" cy="7212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React/Vite cho vận hành;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ThingsBoard Cloud chỉ để xem bản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sao snapshot.</a:t>
              </a:r>
            </a:p>
          </p:txBody>
        </p:sp>
      </p:grpSp>
    </p:spTree>
    <p:extLst>
      <p:ext uri="{BB962C8B-B14F-4D97-AF65-F5344CB8AC3E}">
        <p14:creationId val="987231680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khoguard-content"/>
          <p:cNvGrpSpPr/>
          <p:nvPr/>
        </p:nvGrpSpPr>
        <p:grpSpPr>
          <a:xfrm>
            <a:off x="762000" y="733425"/>
            <a:ext cx="10668000" cy="5362575"/>
            <a:chOff x="762000" y="733425"/>
            <a:chExt cx="10668000" cy="5362575"/>
          </a:xfrm>
        </p:grpSpPr>
        <p:sp>
          <p:nvSpPr>
            <p:cNvPr id="2" name="TextBox 2"/>
            <p:cNvSpPr txBox="1"/>
            <p:nvPr/>
          </p:nvSpPr>
          <p:spPr>
            <a:xfrm>
              <a:off x="2359884" y="733425"/>
              <a:ext cx="74722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Quan trắc đi lên; lệnh phải được xác nhận đi về</a:t>
              </a:r>
            </a:p>
          </p:txBody>
        </p:sp>
        <p:sp>
          <p:nvSpPr>
            <p:cNvPr id="3" name="compare-0"/>
            <p:cNvSpPr/>
            <p:nvPr/>
          </p:nvSpPr>
          <p:spPr>
            <a:xfrm>
              <a:off x="762000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EAF5FB"/>
            </a:solidFill>
            <a:ln w="19050">
              <a:solidFill>
                <a:srgbClr val="2072B7"/>
              </a:solidFill>
            </a:ln>
          </p:spPr>
        </p:sp>
        <p:sp>
          <p:nvSpPr>
            <p:cNvPr id="4" name="compare-band-0"/>
            <p:cNvSpPr/>
            <p:nvPr/>
          </p:nvSpPr>
          <p:spPr>
            <a:xfrm>
              <a:off x="762000" y="2047875"/>
              <a:ext cx="5095875" cy="55245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843720" y="2219325"/>
              <a:ext cx="9324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Quan trắc</a:t>
              </a:r>
            </a:p>
          </p:txBody>
        </p:sp>
        <p:sp>
          <p:nvSpPr>
            <p:cNvPr id="6" name="compare-body-0"/>
            <p:cNvSpPr txBox="1"/>
            <p:nvPr/>
          </p:nvSpPr>
          <p:spPr>
            <a:xfrm>
              <a:off x="983742" y="2825750"/>
              <a:ext cx="2921919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ESP gửi telemetry/event qua MQTT-TLS.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Backend ghi vào MySQL.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React và Cloud đọc trạng thái.</a:t>
              </a:r>
            </a:p>
          </p:txBody>
        </p:sp>
        <p:sp>
          <p:nvSpPr>
            <p:cNvPr id="7" name="compare-1"/>
            <p:cNvSpPr/>
            <p:nvPr/>
          </p:nvSpPr>
          <p:spPr>
            <a:xfrm>
              <a:off x="6334125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FFFFFF"/>
            </a:solidFill>
            <a:ln w="19050">
              <a:solidFill>
                <a:srgbClr val="4CC4EB"/>
              </a:solidFill>
            </a:ln>
          </p:spPr>
        </p:sp>
        <p:sp>
          <p:nvSpPr>
            <p:cNvPr id="8" name="compare-band-1"/>
            <p:cNvSpPr/>
            <p:nvPr/>
          </p:nvSpPr>
          <p:spPr>
            <a:xfrm>
              <a:off x="6334125" y="2047875"/>
              <a:ext cx="5095875" cy="552450"/>
            </a:xfrm>
            <a:prstGeom prst="rect">
              <a:avLst/>
            </a:prstGeom>
            <a:solidFill>
              <a:srgbClr val="044F9E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462296" y="2219325"/>
              <a:ext cx="8395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Lệnh cửa</a:t>
              </a:r>
            </a:p>
          </p:txBody>
        </p:sp>
        <p:sp>
          <p:nvSpPr>
            <p:cNvPr id="10" name="compare-body-1"/>
            <p:cNvSpPr txBox="1"/>
            <p:nvPr/>
          </p:nvSpPr>
          <p:spPr>
            <a:xfrm>
              <a:off x="6555867" y="2825750"/>
              <a:ext cx="2591793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Operator gửi yêu cầu.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Backend kiểm phiên và TTL 10 giây.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ESP tự kiểm tra; ACK xác nhận.</a:t>
              </a:r>
            </a:p>
          </p:txBody>
        </p:sp>
        <p:sp>
          <p:nvSpPr>
            <p:cNvPr id="11" name="verdict-band"/>
            <p:cNvSpPr/>
            <p:nvPr/>
          </p:nvSpPr>
          <p:spPr>
            <a:xfrm>
              <a:off x="1524000" y="5543550"/>
              <a:ext cx="9144000" cy="552450"/>
            </a:xfrm>
            <a:prstGeom prst="roundRect">
              <a:avLst>
                <a:gd name="adj" fmla="val 17241"/>
              </a:avLst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555536" y="5734050"/>
              <a:ext cx="3080928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Backend không thể ép ESP bỏ qua an toàn.</a:t>
              </a:r>
            </a:p>
          </p:txBody>
        </p:sp>
      </p:grpSp>
    </p:spTree>
    <p:extLst>
      <p:ext uri="{BB962C8B-B14F-4D97-AF65-F5344CB8AC3E}">
        <p14:creationId val="2614639026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khoguard-content"/>
          <p:cNvGrpSpPr/>
          <p:nvPr/>
        </p:nvGrpSpPr>
        <p:grpSpPr>
          <a:xfrm>
            <a:off x="762000" y="714375"/>
            <a:ext cx="10668000" cy="4572000"/>
            <a:chOff x="762000" y="714375"/>
            <a:chExt cx="10668000" cy="4572000"/>
          </a:xfrm>
        </p:grpSpPr>
        <p:sp>
          <p:nvSpPr>
            <p:cNvPr id="2" name="TextBox 2"/>
            <p:cNvSpPr txBox="1"/>
            <p:nvPr/>
          </p:nvSpPr>
          <p:spPr>
            <a:xfrm>
              <a:off x="2320720" y="714375"/>
              <a:ext cx="75505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MySQL lưu lịch sử; chức năng hiện hành chỉ lấy khu C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205143" y="1530350"/>
              <a:ext cx="37817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Không xóa hàng lịch sử chỉ vì đã rút gọn phạm vi.</a:t>
              </a:r>
            </a:p>
          </p:txBody>
        </p:sp>
        <p:sp>
          <p:nvSpPr>
            <p:cNvPr id="4" name="card-0"/>
            <p:cNvSpPr/>
            <p:nvPr/>
          </p:nvSpPr>
          <p:spPr>
            <a:xfrm>
              <a:off x="7620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card-band-0"/>
            <p:cNvSpPr/>
            <p:nvPr/>
          </p:nvSpPr>
          <p:spPr>
            <a:xfrm>
              <a:off x="762000" y="1952625"/>
              <a:ext cx="3441700" cy="11430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25068" y="2219325"/>
              <a:ext cx="8507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Đo lường</a:t>
              </a:r>
            </a:p>
          </p:txBody>
        </p:sp>
        <p:sp>
          <p:nvSpPr>
            <p:cNvPr id="7" name="card-body-0"/>
            <p:cNvSpPr txBox="1"/>
            <p:nvPr/>
          </p:nvSpPr>
          <p:spPr>
            <a:xfrm>
              <a:off x="926592" y="2689225"/>
              <a:ext cx="2289423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Telemetry và trạng thái gần nhất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của ESP-C01.</a:t>
              </a:r>
            </a:p>
          </p:txBody>
        </p:sp>
        <p:sp>
          <p:nvSpPr>
            <p:cNvPr id="8" name="card-1"/>
            <p:cNvSpPr/>
            <p:nvPr/>
          </p:nvSpPr>
          <p:spPr>
            <a:xfrm>
              <a:off x="437515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card-band-1"/>
            <p:cNvSpPr/>
            <p:nvPr/>
          </p:nvSpPr>
          <p:spPr>
            <a:xfrm>
              <a:off x="4375150" y="1952625"/>
              <a:ext cx="3441700" cy="114300"/>
            </a:xfrm>
            <a:prstGeom prst="rect">
              <a:avLst/>
            </a:prstGeom>
            <a:solidFill>
              <a:srgbClr val="4CC4E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38218" y="2219325"/>
              <a:ext cx="95422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Nghiệp vụ</a:t>
              </a:r>
            </a:p>
          </p:txBody>
        </p:sp>
        <p:sp>
          <p:nvSpPr>
            <p:cNvPr id="11" name="card-body-1"/>
            <p:cNvSpPr txBox="1"/>
            <p:nvPr/>
          </p:nvSpPr>
          <p:spPr>
            <a:xfrm>
              <a:off x="4539742" y="2689225"/>
              <a:ext cx="2137313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Sự kiện, cảnh báo, lệnh, phiên,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lịch ca và giữ chỗ.</a:t>
              </a:r>
            </a:p>
          </p:txBody>
        </p:sp>
        <p:sp>
          <p:nvSpPr>
            <p:cNvPr id="12" name="card-2"/>
            <p:cNvSpPr/>
            <p:nvPr/>
          </p:nvSpPr>
          <p:spPr>
            <a:xfrm>
              <a:off x="79883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card-band-2"/>
            <p:cNvSpPr/>
            <p:nvPr/>
          </p:nvSpPr>
          <p:spPr>
            <a:xfrm>
              <a:off x="7988300" y="1952625"/>
              <a:ext cx="3441700" cy="114300"/>
            </a:xfrm>
            <a:prstGeom prst="rect">
              <a:avLst/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51368" y="2219325"/>
              <a:ext cx="16979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Giữ nguyên lịch sử</a:t>
              </a:r>
            </a:p>
          </p:txBody>
        </p:sp>
        <p:sp>
          <p:nvSpPr>
            <p:cNvPr id="15" name="card-body-2"/>
            <p:cNvSpPr txBox="1"/>
            <p:nvPr/>
          </p:nvSpPr>
          <p:spPr>
            <a:xfrm>
              <a:off x="8152892" y="2689225"/>
              <a:ext cx="2297190" cy="7212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Seed/migration cũ được giữ; truy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vấn hoạt động lọc đúng phạm vi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C.</a:t>
              </a:r>
            </a:p>
          </p:txBody>
        </p:sp>
      </p:grpSp>
    </p:spTree>
    <p:extLst>
      <p:ext uri="{BB962C8B-B14F-4D97-AF65-F5344CB8AC3E}">
        <p14:creationId val="987231680"/>
      </p:ext>
    </p:extLst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khoguard-content"/>
          <p:cNvGrpSpPr/>
          <p:nvPr/>
        </p:nvGrpSpPr>
        <p:grpSpPr>
          <a:xfrm>
            <a:off x="762000" y="733425"/>
            <a:ext cx="10668000" cy="4552950"/>
            <a:chOff x="762000" y="733425"/>
            <a:chExt cx="10668000" cy="4552950"/>
          </a:xfrm>
        </p:grpSpPr>
        <p:sp>
          <p:nvSpPr>
            <p:cNvPr id="2" name="TextBox 2"/>
            <p:cNvSpPr txBox="1"/>
            <p:nvPr/>
          </p:nvSpPr>
          <p:spPr>
            <a:xfrm>
              <a:off x="2537603" y="733425"/>
              <a:ext cx="711679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React gom các việc vận hành thành ba nhóm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043434" y="1349375"/>
              <a:ext cx="21051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Năm màn hình, một khu C.</a:t>
              </a:r>
            </a:p>
          </p:txBody>
        </p:sp>
        <p:sp>
          <p:nvSpPr>
            <p:cNvPr id="4" name="card-0"/>
            <p:cNvSpPr/>
            <p:nvPr/>
          </p:nvSpPr>
          <p:spPr>
            <a:xfrm>
              <a:off x="7620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card-band-0"/>
            <p:cNvSpPr/>
            <p:nvPr/>
          </p:nvSpPr>
          <p:spPr>
            <a:xfrm>
              <a:off x="762000" y="1952625"/>
              <a:ext cx="3441700" cy="11430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25068" y="2219325"/>
              <a:ext cx="8270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Theo dõi</a:t>
              </a:r>
            </a:p>
          </p:txBody>
        </p:sp>
        <p:sp>
          <p:nvSpPr>
            <p:cNvPr id="7" name="card-body-0"/>
            <p:cNvSpPr txBox="1"/>
            <p:nvPr/>
          </p:nvSpPr>
          <p:spPr>
            <a:xfrm>
              <a:off x="926592" y="2689225"/>
              <a:ext cx="2360506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Tổng quan, sơ đồ kho, môi trường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DHT22 và cảnh báo.</a:t>
              </a:r>
            </a:p>
          </p:txBody>
        </p:sp>
        <p:sp>
          <p:nvSpPr>
            <p:cNvPr id="8" name="card-1"/>
            <p:cNvSpPr/>
            <p:nvPr/>
          </p:nvSpPr>
          <p:spPr>
            <a:xfrm>
              <a:off x="437515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card-band-1"/>
            <p:cNvSpPr/>
            <p:nvPr/>
          </p:nvSpPr>
          <p:spPr>
            <a:xfrm>
              <a:off x="4375150" y="1952625"/>
              <a:ext cx="3441700" cy="114300"/>
            </a:xfrm>
            <a:prstGeom prst="rect">
              <a:avLst/>
            </a:prstGeom>
            <a:solidFill>
              <a:srgbClr val="4CC4E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38218" y="2219325"/>
              <a:ext cx="10101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Điều khiển</a:t>
              </a:r>
            </a:p>
          </p:txBody>
        </p:sp>
        <p:sp>
          <p:nvSpPr>
            <p:cNvPr id="11" name="card-body-1"/>
            <p:cNvSpPr txBox="1"/>
            <p:nvPr/>
          </p:nvSpPr>
          <p:spPr>
            <a:xfrm>
              <a:off x="4539742" y="2689225"/>
              <a:ext cx="2209339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Giám sát hai cửa D07/D08, lệnh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đang chờ và ACK từ thiết bị.</a:t>
              </a:r>
            </a:p>
          </p:txBody>
        </p:sp>
        <p:sp>
          <p:nvSpPr>
            <p:cNvPr id="12" name="card-2"/>
            <p:cNvSpPr/>
            <p:nvPr/>
          </p:nvSpPr>
          <p:spPr>
            <a:xfrm>
              <a:off x="79883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card-band-2"/>
            <p:cNvSpPr/>
            <p:nvPr/>
          </p:nvSpPr>
          <p:spPr>
            <a:xfrm>
              <a:off x="7988300" y="1952625"/>
              <a:ext cx="3441700" cy="114300"/>
            </a:xfrm>
            <a:prstGeom prst="rect">
              <a:avLst/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51368" y="2219325"/>
              <a:ext cx="95422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Nghiệp vụ</a:t>
              </a:r>
            </a:p>
          </p:txBody>
        </p:sp>
        <p:sp>
          <p:nvSpPr>
            <p:cNvPr id="15" name="card-body-2"/>
            <p:cNvSpPr txBox="1"/>
            <p:nvPr/>
          </p:nvSpPr>
          <p:spPr>
            <a:xfrm>
              <a:off x="8152892" y="2689225"/>
              <a:ext cx="1945820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Nhận hàng/giữ chỗ 78 vị trí;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nhật ký có lọc và xuất CSV.</a:t>
              </a:r>
            </a:p>
          </p:txBody>
        </p:sp>
      </p:grpSp>
    </p:spTree>
    <p:extLst>
      <p:ext uri="{BB962C8B-B14F-4D97-AF65-F5344CB8AC3E}">
        <p14:creationId val="987231680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khoguard-content"/>
          <p:cNvGrpSpPr/>
          <p:nvPr/>
        </p:nvGrpSpPr>
        <p:grpSpPr>
          <a:xfrm>
            <a:off x="762000" y="733425"/>
            <a:ext cx="10668000" cy="5010150"/>
            <a:chOff x="762000" y="733425"/>
            <a:chExt cx="10668000" cy="5010150"/>
          </a:xfrm>
        </p:grpSpPr>
        <p:sp>
          <p:nvSpPr>
            <p:cNvPr id="2" name="TextBox 2"/>
            <p:cNvSpPr txBox="1"/>
            <p:nvPr/>
          </p:nvSpPr>
          <p:spPr>
            <a:xfrm>
              <a:off x="3150543" y="733425"/>
              <a:ext cx="5890913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Ba lớp giúp giới hạn quyền và kết nối</a:t>
              </a:r>
            </a:p>
          </p:txBody>
        </p:sp>
        <p:sp>
          <p:nvSpPr>
            <p:cNvPr id="3" name="matrix-0"/>
            <p:cNvSpPr/>
            <p:nvPr/>
          </p:nvSpPr>
          <p:spPr>
            <a:xfrm>
              <a:off x="762000" y="19526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4" name="matrix-strip-0"/>
            <p:cNvSpPr/>
            <p:nvPr/>
          </p:nvSpPr>
          <p:spPr>
            <a:xfrm>
              <a:off x="762000" y="1952625"/>
              <a:ext cx="114300" cy="180975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021080" y="2193925"/>
              <a:ext cx="5852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Vai trò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022223" y="2590800"/>
              <a:ext cx="395061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Viewer xem; operator vận hành; admin xem thêm audit.</a:t>
              </a:r>
            </a:p>
          </p:txBody>
        </p:sp>
        <p:sp>
          <p:nvSpPr>
            <p:cNvPr id="7" name="matrix-1"/>
            <p:cNvSpPr/>
            <p:nvPr/>
          </p:nvSpPr>
          <p:spPr>
            <a:xfrm>
              <a:off x="6181725" y="19526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8" name="matrix-strip-1"/>
            <p:cNvSpPr/>
            <p:nvPr/>
          </p:nvSpPr>
          <p:spPr>
            <a:xfrm>
              <a:off x="6181725" y="1952625"/>
              <a:ext cx="114300" cy="1809750"/>
            </a:xfrm>
            <a:prstGeom prst="rect">
              <a:avLst/>
            </a:prstGeom>
            <a:solidFill>
              <a:srgbClr val="4CC4EB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440805" y="2193925"/>
              <a:ext cx="94004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MQTT ACL</a:t>
              </a:r>
            </a:p>
          </p:txBody>
        </p:sp>
        <p:sp>
          <p:nvSpPr>
            <p:cNvPr id="10" name="matrix-body-1"/>
            <p:cNvSpPr txBox="1"/>
            <p:nvPr/>
          </p:nvSpPr>
          <p:spPr>
            <a:xfrm>
              <a:off x="6441948" y="2578100"/>
              <a:ext cx="3685412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ESP-C01, backend và observer chỉ được dùng topic được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cấp.</a:t>
              </a:r>
            </a:p>
          </p:txBody>
        </p:sp>
        <p:sp>
          <p:nvSpPr>
            <p:cNvPr id="11" name="matrix-2"/>
            <p:cNvSpPr/>
            <p:nvPr/>
          </p:nvSpPr>
          <p:spPr>
            <a:xfrm>
              <a:off x="762000" y="39338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FF8E2"/>
            </a:solidFill>
            <a:ln w="19050">
              <a:solidFill>
                <a:srgbClr val="B8D5E7"/>
              </a:solidFill>
            </a:ln>
          </p:spPr>
        </p:sp>
        <p:sp>
          <p:nvSpPr>
            <p:cNvPr id="12" name="matrix-strip-2"/>
            <p:cNvSpPr/>
            <p:nvPr/>
          </p:nvSpPr>
          <p:spPr>
            <a:xfrm>
              <a:off x="762000" y="3933825"/>
              <a:ext cx="114300" cy="1809750"/>
            </a:xfrm>
            <a:prstGeom prst="rect">
              <a:avLst/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1080" y="4175125"/>
              <a:ext cx="311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TLS</a:t>
              </a:r>
            </a:p>
          </p:txBody>
        </p:sp>
        <p:sp>
          <p:nvSpPr>
            <p:cNvPr id="14" name="matrix-body-2"/>
            <p:cNvSpPr txBox="1"/>
            <p:nvPr/>
          </p:nvSpPr>
          <p:spPr>
            <a:xfrm>
              <a:off x="1022223" y="4559300"/>
              <a:ext cx="3454170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Kiểm tra CA và hostname; không tắt xác minh chứng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chỉ.</a:t>
              </a:r>
            </a:p>
          </p:txBody>
        </p:sp>
        <p:sp>
          <p:nvSpPr>
            <p:cNvPr id="15" name="matrix-3"/>
            <p:cNvSpPr/>
            <p:nvPr/>
          </p:nvSpPr>
          <p:spPr>
            <a:xfrm>
              <a:off x="6181725" y="39338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1F6FA"/>
            </a:solidFill>
            <a:ln w="19050">
              <a:solidFill>
                <a:srgbClr val="B8D5E7"/>
              </a:solidFill>
            </a:ln>
          </p:spPr>
        </p:sp>
        <p:sp>
          <p:nvSpPr>
            <p:cNvPr id="16" name="matrix-strip-3"/>
            <p:cNvSpPr/>
            <p:nvPr/>
          </p:nvSpPr>
          <p:spPr>
            <a:xfrm>
              <a:off x="6181725" y="3933825"/>
              <a:ext cx="114300" cy="1809750"/>
            </a:xfrm>
            <a:prstGeom prst="rect">
              <a:avLst/>
            </a:prstGeom>
            <a:solidFill>
              <a:srgbClr val="E81F2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40805" y="4175125"/>
              <a:ext cx="5637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Bí mật</a:t>
              </a:r>
            </a:p>
          </p:txBody>
        </p:sp>
        <p:sp>
          <p:nvSpPr>
            <p:cNvPr id="18" name="matrix-body-3"/>
            <p:cNvSpPr txBox="1"/>
            <p:nvPr/>
          </p:nvSpPr>
          <p:spPr>
            <a:xfrm>
              <a:off x="6441948" y="4559300"/>
              <a:ext cx="3471451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Mật khẩu/token nằm trong .local, không đưa vào Git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hoặc slide.</a:t>
              </a:r>
            </a:p>
          </p:txBody>
        </p:sp>
      </p:grpSp>
    </p:spTree>
    <p:extLst>
      <p:ext uri="{BB962C8B-B14F-4D97-AF65-F5344CB8AC3E}">
        <p14:creationId val="2464544392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khoguard-content"/>
          <p:cNvGrpSpPr/>
          <p:nvPr/>
        </p:nvGrpSpPr>
        <p:grpSpPr>
          <a:xfrm>
            <a:off x="762000" y="733425"/>
            <a:ext cx="10668000" cy="5029200"/>
            <a:chOff x="762000" y="733425"/>
            <a:chExt cx="10668000" cy="5029200"/>
          </a:xfrm>
        </p:grpSpPr>
        <p:sp>
          <p:nvSpPr>
            <p:cNvPr id="2" name="TextBox 2"/>
            <p:cNvSpPr txBox="1"/>
            <p:nvPr/>
          </p:nvSpPr>
          <p:spPr>
            <a:xfrm>
              <a:off x="2437726" y="733425"/>
              <a:ext cx="73165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ThingsBoard Cloud là màn hình quan trắc phụ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091026" y="1349375"/>
              <a:ext cx="60099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Cloud device KhoGuard-WH01; phải xem thời điểm nguồn và trạng thái stale.</a:t>
              </a:r>
            </a:p>
          </p:txBody>
        </p:sp>
        <p:sp>
          <p:nvSpPr>
            <p:cNvPr id="4" name="stat-0"/>
            <p:cNvSpPr/>
            <p:nvPr/>
          </p:nvSpPr>
          <p:spPr>
            <a:xfrm>
              <a:off x="762000" y="1952625"/>
              <a:ext cx="5248275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3256802" y="2178050"/>
              <a:ext cx="2586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3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106352" y="2787650"/>
              <a:ext cx="5595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widget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592807" y="3203575"/>
              <a:ext cx="15866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Bảng C, nhiệt độ, độ ẩm</a:t>
              </a:r>
            </a:p>
          </p:txBody>
        </p:sp>
        <p:sp>
          <p:nvSpPr>
            <p:cNvPr id="8" name="stat-1"/>
            <p:cNvSpPr/>
            <p:nvPr/>
          </p:nvSpPr>
          <p:spPr>
            <a:xfrm>
              <a:off x="6181725" y="1952625"/>
              <a:ext cx="5248275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425128" y="2178050"/>
              <a:ext cx="76146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10 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68220" y="2787650"/>
              <a:ext cx="10752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chu kỳ bridge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976106" y="3203575"/>
              <a:ext cx="16595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Snapshot viewer qua TLS</a:t>
              </a:r>
            </a:p>
          </p:txBody>
        </p:sp>
        <p:sp>
          <p:nvSpPr>
            <p:cNvPr id="12" name="stat-2"/>
            <p:cNvSpPr/>
            <p:nvPr/>
          </p:nvSpPr>
          <p:spPr>
            <a:xfrm>
              <a:off x="762000" y="3952875"/>
              <a:ext cx="5248275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256802" y="4178300"/>
              <a:ext cx="2586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0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777809" y="4787900"/>
              <a:ext cx="12166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RPC điều khiển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474177" y="5203825"/>
              <a:ext cx="182392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Cloud không điều khiển cửa</a:t>
              </a:r>
            </a:p>
          </p:txBody>
        </p:sp>
      </p:grpSp>
    </p:spTree>
    <p:extLst>
      <p:ext uri="{BB962C8B-B14F-4D97-AF65-F5344CB8AC3E}">
        <p14:creationId val="987231680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khoguard-chapter"/>
          <p:cNvGrpSpPr/>
          <p:nvPr/>
        </p:nvGrpSpPr>
        <p:grpSpPr>
          <a:xfrm>
            <a:off x="3542989" y="2095500"/>
            <a:ext cx="5106021" cy="3009900"/>
            <a:chOff x="3542989" y="2095500"/>
            <a:chExt cx="5106021" cy="3009900"/>
          </a:xfrm>
        </p:grpSpPr>
        <p:sp>
          <p:nvSpPr>
            <p:cNvPr id="2" name="chapter-ring"/>
            <p:cNvSpPr/>
            <p:nvPr/>
          </p:nvSpPr>
          <p:spPr>
            <a:xfrm>
              <a:off x="5476875" y="2095500"/>
              <a:ext cx="1238250" cy="1238250"/>
            </a:xfrm>
            <a:prstGeom prst="ellipse">
              <a:avLst/>
            </a:prstGeom>
            <a:solidFill>
              <a:srgbClr val="FFFFFF"/>
            </a:solidFill>
            <a:ln w="76200">
              <a:solidFill>
                <a:srgbClr val="FEC01D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10545" y="2546350"/>
              <a:ext cx="13709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1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CHƯƠNG 4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542989" y="3543300"/>
              <a:ext cx="5106021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2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Chương 4 · Demo và kết quả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727139" y="4400550"/>
              <a:ext cx="473772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Đã chạy trên mô phỏng; không gọi là phần cứng thật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4095750" y="5095875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47625" cap="rnd">
              <a:solidFill>
                <a:srgbClr val="FEC01D"/>
              </a:solidFill>
            </a:ln>
          </p:spPr>
        </p:sp>
      </p:grpSp>
    </p:spTree>
    <p:extLst>
      <p:ext uri="{BB962C8B-B14F-4D97-AF65-F5344CB8AC3E}">
        <p14:creationId val="3319351958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khoguard-content"/>
          <p:cNvGrpSpPr/>
          <p:nvPr/>
        </p:nvGrpSpPr>
        <p:grpSpPr>
          <a:xfrm>
            <a:off x="595963" y="714375"/>
            <a:ext cx="10949693" cy="3661727"/>
            <a:chOff x="595963" y="714375"/>
            <a:chExt cx="10949693" cy="3661727"/>
          </a:xfrm>
        </p:grpSpPr>
        <p:sp>
          <p:nvSpPr>
            <p:cNvPr id="2" name="TextBox 2"/>
            <p:cNvSpPr txBox="1"/>
            <p:nvPr/>
          </p:nvSpPr>
          <p:spPr>
            <a:xfrm>
              <a:off x="2214258" y="714375"/>
              <a:ext cx="77634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Một thẻ hợp lệ cập nhật người; PIR bổ sung chặn đóng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015943" y="1530350"/>
              <a:ext cx="61601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Thẻ đại diện một lượt đi qua; PIR phát hiện chuyển động chứ không đếm người.</a:t>
              </a:r>
            </a:p>
          </p:txBody>
        </p:sp>
        <p:sp>
          <p:nvSpPr>
            <p:cNvPr id="4" name="Line 4"/>
            <p:cNvSpPr/>
            <p:nvPr/>
          </p:nvSpPr>
          <p:spPr>
            <a:xfrm>
              <a:off x="1381125" y="3143250"/>
              <a:ext cx="9429750" cy="9525"/>
            </a:xfrm>
            <a:custGeom>
              <a:avLst/>
              <a:gdLst/>
              <a:ahLst/>
              <a:cxnLst/>
              <a:rect l="l" t="t" r="r" b="b"/>
              <a:pathLst>
                <a:path w="9429750" h="9525">
                  <a:moveTo>
                    <a:pt x="0" y="0"/>
                  </a:moveTo>
                  <a:lnTo>
                    <a:pt x="9429750" y="0"/>
                  </a:lnTo>
                </a:path>
              </a:pathLst>
            </a:custGeom>
            <a:noFill/>
            <a:ln w="47625" cap="rnd">
              <a:solidFill>
                <a:srgbClr val="2072B7"/>
              </a:solidFill>
            </a:ln>
          </p:spPr>
        </p:sp>
        <p:sp>
          <p:nvSpPr>
            <p:cNvPr id="5" name="tl-dot-0"/>
            <p:cNvSpPr/>
            <p:nvPr/>
          </p:nvSpPr>
          <p:spPr>
            <a:xfrm>
              <a:off x="1238250" y="3000375"/>
              <a:ext cx="285750" cy="285750"/>
            </a:xfrm>
            <a:prstGeom prst="ellipse">
              <a:avLst/>
            </a:prstGeom>
            <a:solidFill>
              <a:srgbClr val="FEC01D"/>
            </a:solidFill>
            <a:ln w="38100">
              <a:solidFill>
                <a:srgbClr val="044F9E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298998" y="2616200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079276" y="3425825"/>
              <a:ext cx="6036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Blue IN</a:t>
              </a:r>
            </a:p>
          </p:txBody>
        </p:sp>
        <p:sp>
          <p:nvSpPr>
            <p:cNvPr id="8" name="tl-body-0"/>
            <p:cNvSpPr txBox="1"/>
            <p:nvPr/>
          </p:nvSpPr>
          <p:spPr>
            <a:xfrm>
              <a:off x="595963" y="3975100"/>
              <a:ext cx="1570324" cy="4010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25"/>
                </a:lnSpc>
              </a:pPr>
              <a: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Thẻ DEMO-017 được nhận;</a:t>
              </a:r>
              <a:b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số người tăng.</a:t>
              </a:r>
            </a:p>
          </p:txBody>
        </p:sp>
        <p:sp>
          <p:nvSpPr>
            <p:cNvPr id="9" name="tl-dot-1"/>
            <p:cNvSpPr/>
            <p:nvPr/>
          </p:nvSpPr>
          <p:spPr>
            <a:xfrm>
              <a:off x="4381500" y="3000375"/>
              <a:ext cx="285750" cy="285750"/>
            </a:xfrm>
            <a:prstGeom prst="ellipse">
              <a:avLst/>
            </a:prstGeom>
            <a:solidFill>
              <a:srgbClr val="FEC01D"/>
            </a:solidFill>
            <a:ln w="38100">
              <a:solidFill>
                <a:srgbClr val="044F9E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442248" y="2616200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02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145830" y="3425825"/>
              <a:ext cx="75709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Đóng cửa</a:t>
              </a:r>
            </a:p>
          </p:txBody>
        </p:sp>
        <p:sp>
          <p:nvSpPr>
            <p:cNvPr id="12" name="tl-body-1"/>
            <p:cNvSpPr txBox="1"/>
            <p:nvPr/>
          </p:nvSpPr>
          <p:spPr>
            <a:xfrm>
              <a:off x="3919246" y="3975100"/>
              <a:ext cx="1210257" cy="4010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25"/>
                </a:lnSpc>
              </a:pPr>
              <a: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Khi count còn 1,</a:t>
              </a:r>
              <a:b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firmware chặn đóng.</a:t>
              </a:r>
            </a:p>
          </p:txBody>
        </p:sp>
        <p:sp>
          <p:nvSpPr>
            <p:cNvPr id="13" name="tl-dot-2"/>
            <p:cNvSpPr/>
            <p:nvPr/>
          </p:nvSpPr>
          <p:spPr>
            <a:xfrm>
              <a:off x="7524750" y="3000375"/>
              <a:ext cx="285750" cy="285750"/>
            </a:xfrm>
            <a:prstGeom prst="ellipse">
              <a:avLst/>
            </a:prstGeom>
            <a:solidFill>
              <a:srgbClr val="FEC01D"/>
            </a:solidFill>
            <a:ln w="38100">
              <a:solidFill>
                <a:srgbClr val="044F9E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85498" y="2616200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03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75921" y="3425825"/>
              <a:ext cx="7834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Blue OUT</a:t>
              </a:r>
            </a:p>
          </p:txBody>
        </p:sp>
        <p:sp>
          <p:nvSpPr>
            <p:cNvPr id="16" name="tl-body-2"/>
            <p:cNvSpPr txBox="1"/>
            <p:nvPr/>
          </p:nvSpPr>
          <p:spPr>
            <a:xfrm>
              <a:off x="6964614" y="3975100"/>
              <a:ext cx="1406022" cy="4010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25"/>
                </a:lnSpc>
              </a:pPr>
              <a: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Quét lại ở chiều OUT; số</a:t>
              </a:r>
              <a:b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người về 0.</a:t>
              </a:r>
            </a:p>
          </p:txBody>
        </p:sp>
        <p:sp>
          <p:nvSpPr>
            <p:cNvPr id="17" name="tl-dot-3"/>
            <p:cNvSpPr/>
            <p:nvPr/>
          </p:nvSpPr>
          <p:spPr>
            <a:xfrm>
              <a:off x="10668000" y="3000375"/>
              <a:ext cx="285750" cy="285750"/>
            </a:xfrm>
            <a:prstGeom prst="ellipse">
              <a:avLst/>
            </a:prstGeom>
            <a:solidFill>
              <a:srgbClr val="FEC01D"/>
            </a:solidFill>
            <a:ln w="38100">
              <a:solidFill>
                <a:srgbClr val="044F9E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728748" y="2616200"/>
              <a:ext cx="164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22093" y="3425825"/>
              <a:ext cx="777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Red / PIR</a:t>
              </a:r>
            </a:p>
          </p:txBody>
        </p:sp>
        <p:sp>
          <p:nvSpPr>
            <p:cNvPr id="20" name="tl-body-3"/>
            <p:cNvSpPr txBox="1"/>
            <p:nvPr/>
          </p:nvSpPr>
          <p:spPr>
            <a:xfrm>
              <a:off x="10076095" y="3975100"/>
              <a:ext cx="1469561" cy="4010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425"/>
                </a:lnSpc>
              </a:pPr>
              <a: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DEMO-999 bị từ chối; PIR</a:t>
              </a:r>
              <a:b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12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HIGH cũng chặn đóng.</a:t>
              </a:r>
            </a:p>
          </p:txBody>
        </p:sp>
      </p:grpSp>
    </p:spTree>
    <p:extLst>
      <p:ext uri="{BB962C8B-B14F-4D97-AF65-F5344CB8AC3E}">
        <p14:creationId val="3378413330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khoguard-content"/>
          <p:cNvGrpSpPr/>
          <p:nvPr/>
        </p:nvGrpSpPr>
        <p:grpSpPr>
          <a:xfrm>
            <a:off x="762000" y="739775"/>
            <a:ext cx="10668000" cy="5356225"/>
            <a:chOff x="762000" y="739775"/>
            <a:chExt cx="10668000" cy="5356225"/>
          </a:xfrm>
        </p:grpSpPr>
        <p:sp>
          <p:nvSpPr>
            <p:cNvPr id="2" name="kg-page-title"/>
            <p:cNvSpPr txBox="1"/>
            <p:nvPr/>
          </p:nvSpPr>
          <p:spPr>
            <a:xfrm>
              <a:off x="2399430" y="739775"/>
              <a:ext cx="7393139" cy="8606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850"/>
                </a:lnSpc>
              </a:pPr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Panic ưu tiên thoát; cảm biến và broker không thay đổi</a:t>
              </a:r>
              <a:b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</a:br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logic tại chỗ</a:t>
              </a:r>
            </a:p>
          </p:txBody>
        </p:sp>
        <p:sp>
          <p:nvSpPr>
            <p:cNvPr id="3" name="compare-0"/>
            <p:cNvSpPr/>
            <p:nvPr/>
          </p:nvSpPr>
          <p:spPr>
            <a:xfrm>
              <a:off x="762000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EAF5FB"/>
            </a:solidFill>
            <a:ln w="19050">
              <a:solidFill>
                <a:srgbClr val="2072B7"/>
              </a:solidFill>
            </a:ln>
          </p:spPr>
        </p:sp>
        <p:sp>
          <p:nvSpPr>
            <p:cNvPr id="4" name="compare-band-0"/>
            <p:cNvSpPr/>
            <p:nvPr/>
          </p:nvSpPr>
          <p:spPr>
            <a:xfrm>
              <a:off x="762000" y="2047875"/>
              <a:ext cx="5095875" cy="55245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680910" y="2219325"/>
              <a:ext cx="12580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Panic đã thấy</a:t>
              </a:r>
            </a:p>
          </p:txBody>
        </p:sp>
        <p:sp>
          <p:nvSpPr>
            <p:cNvPr id="6" name="compare-body-0"/>
            <p:cNvSpPr txBox="1"/>
            <p:nvPr/>
          </p:nvSpPr>
          <p:spPr>
            <a:xfrm>
              <a:off x="983742" y="2825750"/>
              <a:ext cx="2824004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Panic D07 và D08 chạy.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Mất broker: đầu ra ESP vẫn hoạt động.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Sự kiện tới MySQL sau reconnect.</a:t>
              </a:r>
            </a:p>
          </p:txBody>
        </p:sp>
        <p:sp>
          <p:nvSpPr>
            <p:cNvPr id="7" name="compare-1"/>
            <p:cNvSpPr/>
            <p:nvPr/>
          </p:nvSpPr>
          <p:spPr>
            <a:xfrm>
              <a:off x="6334125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FFFFFF"/>
            </a:solidFill>
            <a:ln w="19050">
              <a:solidFill>
                <a:srgbClr val="4CC4EB"/>
              </a:solidFill>
            </a:ln>
          </p:spPr>
        </p:sp>
        <p:sp>
          <p:nvSpPr>
            <p:cNvPr id="8" name="compare-band-1"/>
            <p:cNvSpPr/>
            <p:nvPr/>
          </p:nvSpPr>
          <p:spPr>
            <a:xfrm>
              <a:off x="6334125" y="2047875"/>
              <a:ext cx="5095875" cy="552450"/>
            </a:xfrm>
            <a:prstGeom prst="rect">
              <a:avLst/>
            </a:prstGeom>
            <a:solidFill>
              <a:srgbClr val="044F9E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1213" y="2219325"/>
              <a:ext cx="11617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Còn giới hạn</a:t>
              </a:r>
            </a:p>
          </p:txBody>
        </p:sp>
        <p:sp>
          <p:nvSpPr>
            <p:cNvPr id="10" name="compare-body-1"/>
            <p:cNvSpPr txBox="1"/>
            <p:nvPr/>
          </p:nvSpPr>
          <p:spPr>
            <a:xfrm>
              <a:off x="6555867" y="2825750"/>
              <a:ext cx="3068578" cy="797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Giữ nút: reset bị chặn PANIC_ACTIVE.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Nhả nút rồi reset: chưa xác nhận trọn vẹn.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Giữ chỗ là luồng nghiệp vụ phần mềm.</a:t>
              </a:r>
            </a:p>
          </p:txBody>
        </p:sp>
        <p:sp>
          <p:nvSpPr>
            <p:cNvPr id="11" name="verdict-band"/>
            <p:cNvSpPr/>
            <p:nvPr/>
          </p:nvSpPr>
          <p:spPr>
            <a:xfrm>
              <a:off x="1524000" y="5543550"/>
              <a:ext cx="9144000" cy="552450"/>
            </a:xfrm>
            <a:prstGeom prst="roundRect">
              <a:avLst>
                <a:gd name="adj" fmla="val 17241"/>
              </a:avLst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89379" y="5734050"/>
              <a:ext cx="281324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Panic cục bộ đạt; chuỗi reset còn thiếu.</a:t>
              </a:r>
            </a:p>
          </p:txBody>
        </p:sp>
      </p:grpSp>
    </p:spTree>
    <p:extLst>
      <p:ext uri="{BB962C8B-B14F-4D97-AF65-F5344CB8AC3E}">
        <p14:creationId val="1297756274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khoguard-content"/>
          <p:cNvGrpSpPr/>
          <p:nvPr/>
        </p:nvGrpSpPr>
        <p:grpSpPr>
          <a:xfrm>
            <a:off x="106258" y="714375"/>
            <a:ext cx="11323742" cy="4076700"/>
            <a:chOff x="106258" y="714375"/>
            <a:chExt cx="11323742" cy="4076700"/>
          </a:xfrm>
        </p:grpSpPr>
        <p:sp>
          <p:nvSpPr>
            <p:cNvPr id="2" name="TextBox 2"/>
            <p:cNvSpPr txBox="1"/>
            <p:nvPr/>
          </p:nvSpPr>
          <p:spPr>
            <a:xfrm>
              <a:off x="1922538" y="714375"/>
              <a:ext cx="83469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Tín hiệu mơ hồ hoặc quá cũ được xử lý theo hướng an toàn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2824355" y="1530350"/>
              <a:ext cx="6543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Chỉ dùng mã lỗi/kết quả quan sát được; không thay thế thiết bị an toàn công nghiệp.</a:t>
              </a:r>
            </a:p>
          </p:txBody>
        </p:sp>
        <p:sp>
          <p:nvSpPr>
            <p:cNvPr id="4" name="flow-card-0"/>
            <p:cNvSpPr/>
            <p:nvPr/>
          </p:nvSpPr>
          <p:spPr>
            <a:xfrm>
              <a:off x="762000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5" name="flow-dot-0"/>
            <p:cNvSpPr/>
            <p:nvPr/>
          </p:nvSpPr>
          <p:spPr>
            <a:xfrm>
              <a:off x="876300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19769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875146" y="3076575"/>
              <a:ext cx="2835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Đo</a:t>
              </a:r>
            </a:p>
          </p:txBody>
        </p:sp>
        <p:sp>
          <p:nvSpPr>
            <p:cNvPr id="8" name="flow-detail-0"/>
            <p:cNvSpPr txBox="1"/>
            <p:nvPr/>
          </p:nvSpPr>
          <p:spPr>
            <a:xfrm>
              <a:off x="106258" y="3597275"/>
              <a:ext cx="1616283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Sonar gần hoặc echo cũ: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có vật cản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29430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10" name="flow-card-1"/>
            <p:cNvSpPr/>
            <p:nvPr/>
          </p:nvSpPr>
          <p:spPr>
            <a:xfrm>
              <a:off x="3481388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11" name="flow-dot-1"/>
            <p:cNvSpPr/>
            <p:nvPr/>
          </p:nvSpPr>
          <p:spPr>
            <a:xfrm>
              <a:off x="3595688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39156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91823" y="3076575"/>
              <a:ext cx="4889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Chặn</a:t>
              </a:r>
            </a:p>
          </p:txBody>
        </p:sp>
        <p:sp>
          <p:nvSpPr>
            <p:cNvPr id="14" name="flow-detail-1"/>
            <p:cNvSpPr txBox="1"/>
            <p:nvPr/>
          </p:nvSpPr>
          <p:spPr>
            <a:xfrm>
              <a:off x="2805050" y="3597275"/>
              <a:ext cx="1657476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PIR/input chưa rõ: không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đóng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948818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16" name="flow-card-2"/>
            <p:cNvSpPr/>
            <p:nvPr/>
          </p:nvSpPr>
          <p:spPr>
            <a:xfrm>
              <a:off x="6200775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17" name="flow-dot-2"/>
            <p:cNvSpPr/>
            <p:nvPr/>
          </p:nvSpPr>
          <p:spPr>
            <a:xfrm>
              <a:off x="6315075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58544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80266" y="3076575"/>
              <a:ext cx="750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Hết hạn</a:t>
              </a:r>
            </a:p>
          </p:txBody>
        </p:sp>
        <p:sp>
          <p:nvSpPr>
            <p:cNvPr id="20" name="flow-detail-2"/>
            <p:cNvSpPr txBox="1"/>
            <p:nvPr/>
          </p:nvSpPr>
          <p:spPr>
            <a:xfrm>
              <a:off x="5572937" y="3597275"/>
              <a:ext cx="1560476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ESP cũ &gt;10 giây: từ chối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lệnh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668205" y="3371850"/>
              <a:ext cx="161014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FEC01D"/>
                  </a:solidFill>
                  <a:latin typeface="Calibri"/>
                  <a:ea typeface="Calibri"/>
                  <a:cs typeface="Calibri"/>
                </a:rPr>
                <a:t>›</a:t>
              </a:r>
            </a:p>
          </p:txBody>
        </p:sp>
        <p:sp>
          <p:nvSpPr>
            <p:cNvPr id="22" name="flow-card-3"/>
            <p:cNvSpPr/>
            <p:nvPr/>
          </p:nvSpPr>
          <p:spPr>
            <a:xfrm>
              <a:off x="8920162" y="2428875"/>
              <a:ext cx="2509838" cy="2362200"/>
            </a:xfrm>
            <a:prstGeom prst="roundRect">
              <a:avLst>
                <a:gd name="adj" fmla="val 6452"/>
              </a:avLst>
            </a:prstGeom>
            <a:solidFill>
              <a:srgbClr val="FFFFFF"/>
            </a:solidFill>
            <a:ln w="19050">
              <a:solidFill>
                <a:srgbClr val="2072B7"/>
              </a:solidFill>
            </a:ln>
          </p:spPr>
        </p:sp>
        <p:sp>
          <p:nvSpPr>
            <p:cNvPr id="23" name="flow-dot-3"/>
            <p:cNvSpPr/>
            <p:nvPr/>
          </p:nvSpPr>
          <p:spPr>
            <a:xfrm>
              <a:off x="9034462" y="2543175"/>
              <a:ext cx="381000" cy="381000"/>
            </a:xfrm>
            <a:prstGeom prst="ellipse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7931" y="2651125"/>
              <a:ext cx="940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27580" y="3076575"/>
              <a:ext cx="6950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Reboot</a:t>
              </a:r>
            </a:p>
          </p:txBody>
        </p:sp>
        <p:sp>
          <p:nvSpPr>
            <p:cNvPr id="26" name="flow-detail-3"/>
            <p:cNvSpPr txBox="1"/>
            <p:nvPr/>
          </p:nvSpPr>
          <p:spPr>
            <a:xfrm>
              <a:off x="8325925" y="3597275"/>
              <a:ext cx="1493274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Phiên mới: lệnh cũ hết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hiệu lực</a:t>
              </a:r>
            </a:p>
          </p:txBody>
        </p:sp>
      </p:grpSp>
    </p:spTree>
    <p:extLst>
      <p:ext uri="{BB962C8B-B14F-4D97-AF65-F5344CB8AC3E}">
        <p14:creationId val="2464544392"/>
      </p:ext>
    </p:extLst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khoguard-content"/>
          <p:cNvGrpSpPr/>
          <p:nvPr/>
        </p:nvGrpSpPr>
        <p:grpSpPr>
          <a:xfrm>
            <a:off x="762000" y="733425"/>
            <a:ext cx="10668000" cy="5362575"/>
            <a:chOff x="762000" y="733425"/>
            <a:chExt cx="10668000" cy="5362575"/>
          </a:xfrm>
        </p:grpSpPr>
        <p:sp>
          <p:nvSpPr>
            <p:cNvPr id="2" name="TextBox 2"/>
            <p:cNvSpPr txBox="1"/>
            <p:nvPr/>
          </p:nvSpPr>
          <p:spPr>
            <a:xfrm>
              <a:off x="2551604" y="733425"/>
              <a:ext cx="708879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Wokwi ngày 25/10: các ca đạt và việc còn lại</a:t>
              </a:r>
            </a:p>
          </p:txBody>
        </p:sp>
        <p:sp>
          <p:nvSpPr>
            <p:cNvPr id="3" name="compare-0"/>
            <p:cNvSpPr/>
            <p:nvPr/>
          </p:nvSpPr>
          <p:spPr>
            <a:xfrm>
              <a:off x="762000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EAF5FB"/>
            </a:solidFill>
            <a:ln w="19050">
              <a:solidFill>
                <a:srgbClr val="2072B7"/>
              </a:solidFill>
            </a:ln>
          </p:spPr>
        </p:sp>
        <p:sp>
          <p:nvSpPr>
            <p:cNvPr id="4" name="compare-band-0"/>
            <p:cNvSpPr/>
            <p:nvPr/>
          </p:nvSpPr>
          <p:spPr>
            <a:xfrm>
              <a:off x="762000" y="2047875"/>
              <a:ext cx="5095875" cy="55245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573773" y="2219325"/>
              <a:ext cx="14723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Đã quan sát đạt</a:t>
              </a:r>
            </a:p>
          </p:txBody>
        </p:sp>
        <p:sp>
          <p:nvSpPr>
            <p:cNvPr id="6" name="compare-body-0"/>
            <p:cNvSpPr txBox="1"/>
            <p:nvPr/>
          </p:nvSpPr>
          <p:spPr>
            <a:xfrm>
              <a:off x="983742" y="2825750"/>
              <a:ext cx="2668088" cy="1330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RFID Blue IN/OUT; Red bị từ chối.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PIR và sonar tĩnh chặn đóng.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Liên động, DHT22, timer cửa.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Panic hai cửa; offline local và MySQL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reconnect.</a:t>
              </a:r>
            </a:p>
          </p:txBody>
        </p:sp>
        <p:sp>
          <p:nvSpPr>
            <p:cNvPr id="7" name="compare-1"/>
            <p:cNvSpPr/>
            <p:nvPr/>
          </p:nvSpPr>
          <p:spPr>
            <a:xfrm>
              <a:off x="6334125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FFFFFF"/>
            </a:solidFill>
            <a:ln w="19050">
              <a:solidFill>
                <a:srgbClr val="4CC4EB"/>
              </a:solidFill>
            </a:ln>
          </p:spPr>
        </p:sp>
        <p:sp>
          <p:nvSpPr>
            <p:cNvPr id="8" name="compare-band-1"/>
            <p:cNvSpPr/>
            <p:nvPr/>
          </p:nvSpPr>
          <p:spPr>
            <a:xfrm>
              <a:off x="6334125" y="2047875"/>
              <a:ext cx="5095875" cy="552450"/>
            </a:xfrm>
            <a:prstGeom prst="rect">
              <a:avLst/>
            </a:prstGeom>
            <a:solidFill>
              <a:srgbClr val="044F9E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1248" y="2219325"/>
              <a:ext cx="136162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Chưa xác nhận</a:t>
              </a:r>
            </a:p>
          </p:txBody>
        </p:sp>
        <p:sp>
          <p:nvSpPr>
            <p:cNvPr id="10" name="compare-body-1"/>
            <p:cNvSpPr txBox="1"/>
            <p:nvPr/>
          </p:nvSpPr>
          <p:spPr>
            <a:xfrm>
              <a:off x="6555867" y="2825750"/>
              <a:ext cx="2804408" cy="10641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Đảo chiều khi chắn giữa lúc đóng.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Reset Panic sau khi nhả nút.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Reboot, mất nguồn, mất echo, TLS sai.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Phần cứng thật và điện thoại.</a:t>
              </a:r>
            </a:p>
          </p:txBody>
        </p:sp>
        <p:sp>
          <p:nvSpPr>
            <p:cNvPr id="11" name="verdict-band"/>
            <p:cNvSpPr/>
            <p:nvPr/>
          </p:nvSpPr>
          <p:spPr>
            <a:xfrm>
              <a:off x="1524000" y="5543550"/>
              <a:ext cx="9144000" cy="552450"/>
            </a:xfrm>
            <a:prstGeom prst="roundRect">
              <a:avLst>
                <a:gd name="adj" fmla="val 17241"/>
              </a:avLst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921908" y="5734050"/>
              <a:ext cx="234818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Không ghi đảo chiều động là đạt.</a:t>
              </a:r>
            </a:p>
          </p:txBody>
        </p:sp>
      </p:grpSp>
    </p:spTree>
    <p:extLst>
      <p:ext uri="{BB962C8B-B14F-4D97-AF65-F5344CB8AC3E}">
        <p14:creationId val="2464544392"/>
      </p:ext>
    </p:extLst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khoguard-content"/>
          <p:cNvGrpSpPr/>
          <p:nvPr/>
        </p:nvGrpSpPr>
        <p:grpSpPr>
          <a:xfrm>
            <a:off x="762000" y="739775"/>
            <a:ext cx="10668000" cy="5022850"/>
            <a:chOff x="762000" y="739775"/>
            <a:chExt cx="10668000" cy="5022850"/>
          </a:xfrm>
        </p:grpSpPr>
        <p:sp>
          <p:nvSpPr>
            <p:cNvPr id="2" name="kg-page-title"/>
            <p:cNvSpPr txBox="1"/>
            <p:nvPr/>
          </p:nvSpPr>
          <p:spPr>
            <a:xfrm>
              <a:off x="1731312" y="739775"/>
              <a:ext cx="8729377" cy="8606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850"/>
                </a:lnSpc>
              </a:pPr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Kiểm thử tự động chứng minh phần mềm, không chứng minh linh</a:t>
              </a:r>
              <a:b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</a:br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kiện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2760491" y="1530350"/>
              <a:ext cx="66710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Kết quả tự động 24/10/2026, không phải phản ứng Wokwi hay cam kết độ trễ thiết bị.</a:t>
              </a:r>
            </a:p>
          </p:txBody>
        </p:sp>
        <p:sp>
          <p:nvSpPr>
            <p:cNvPr id="4" name="stat-0"/>
            <p:cNvSpPr/>
            <p:nvPr/>
          </p:nvSpPr>
          <p:spPr>
            <a:xfrm>
              <a:off x="762000" y="1952625"/>
              <a:ext cx="5248275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598496" y="2178050"/>
              <a:ext cx="157528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128/128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3066485" y="2787650"/>
              <a:ext cx="6393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unit đạt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608693" y="3203575"/>
              <a:ext cx="155488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Bằng chứng ngày 24/10</a:t>
              </a:r>
            </a:p>
          </p:txBody>
        </p:sp>
        <p:sp>
          <p:nvSpPr>
            <p:cNvPr id="8" name="stat-1"/>
            <p:cNvSpPr/>
            <p:nvPr/>
          </p:nvSpPr>
          <p:spPr>
            <a:xfrm>
              <a:off x="6181725" y="1952625"/>
              <a:ext cx="5248275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563955" y="2178050"/>
              <a:ext cx="48381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17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356756" y="2787650"/>
              <a:ext cx="898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bước verify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85387" y="3203575"/>
              <a:ext cx="14409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0 lỗi trong checkpoint</a:t>
              </a:r>
            </a:p>
          </p:txBody>
        </p:sp>
        <p:sp>
          <p:nvSpPr>
            <p:cNvPr id="12" name="stat-2"/>
            <p:cNvSpPr/>
            <p:nvPr/>
          </p:nvSpPr>
          <p:spPr>
            <a:xfrm>
              <a:off x="762000" y="3952875"/>
              <a:ext cx="5248275" cy="1809750"/>
            </a:xfrm>
            <a:prstGeom prst="roundRect">
              <a:avLst>
                <a:gd name="adj" fmla="val 7368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712134" y="4178300"/>
              <a:ext cx="134800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3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625 ms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645519" y="4787900"/>
              <a:ext cx="14812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b="1" dirty="0">
                  <a:solidFill>
                    <a:srgbClr val="2072B7"/>
                  </a:solidFill>
                  <a:latin typeface="Calibri"/>
                  <a:ea typeface="Calibri"/>
                  <a:cs typeface="Calibri"/>
                </a:rPr>
                <a:t>P95 publish → WS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599679" y="5203825"/>
              <a:ext cx="15729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0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8 mẫu trong checkpoint</a:t>
              </a:r>
            </a:p>
          </p:txBody>
        </p:sp>
      </p:grpSp>
    </p:spTree>
    <p:extLst>
      <p:ext uri="{BB962C8B-B14F-4D97-AF65-F5344CB8AC3E}">
        <p14:creationId val="3677451046"/>
      </p:ext>
    </p:extLst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khoguard-content"/>
          <p:cNvGrpSpPr/>
          <p:nvPr/>
        </p:nvGrpSpPr>
        <p:grpSpPr>
          <a:xfrm>
            <a:off x="762000" y="733425"/>
            <a:ext cx="10668000" cy="5362575"/>
            <a:chOff x="762000" y="733425"/>
            <a:chExt cx="10668000" cy="5362575"/>
          </a:xfrm>
        </p:grpSpPr>
        <p:sp>
          <p:nvSpPr>
            <p:cNvPr id="2" name="TextBox 2"/>
            <p:cNvSpPr txBox="1"/>
            <p:nvPr/>
          </p:nvSpPr>
          <p:spPr>
            <a:xfrm>
              <a:off x="1889448" y="733425"/>
              <a:ext cx="841310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Từ mô hình nhiều khu sang một cấu hình dễ kiểm tra</a:t>
              </a:r>
            </a:p>
          </p:txBody>
        </p:sp>
        <p:sp>
          <p:nvSpPr>
            <p:cNvPr id="3" name="compare-0"/>
            <p:cNvSpPr/>
            <p:nvPr/>
          </p:nvSpPr>
          <p:spPr>
            <a:xfrm>
              <a:off x="762000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EAF5FB"/>
            </a:solidFill>
            <a:ln w="19050">
              <a:solidFill>
                <a:srgbClr val="2072B7"/>
              </a:solidFill>
            </a:ln>
          </p:spPr>
        </p:sp>
        <p:sp>
          <p:nvSpPr>
            <p:cNvPr id="4" name="compare-band-0"/>
            <p:cNvSpPr/>
            <p:nvPr/>
          </p:nvSpPr>
          <p:spPr>
            <a:xfrm>
              <a:off x="762000" y="2047875"/>
              <a:ext cx="5095875" cy="55245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2852846" y="2219325"/>
              <a:ext cx="9141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Bản trước</a:t>
              </a:r>
            </a:p>
          </p:txBody>
        </p:sp>
        <p:sp>
          <p:nvSpPr>
            <p:cNvPr id="6" name="compare-body-0"/>
            <p:cNvSpPr txBox="1"/>
            <p:nvPr/>
          </p:nvSpPr>
          <p:spPr>
            <a:xfrm>
              <a:off x="983742" y="2825750"/>
              <a:ext cx="2754687" cy="10641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4 khu · 12 cửa.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Nhiều firmware và thiết bị mô phỏng.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Cloud nhiều bảng khu.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Tài liệu còn linh kiện không có.</a:t>
              </a:r>
            </a:p>
          </p:txBody>
        </p:sp>
        <p:sp>
          <p:nvSpPr>
            <p:cNvPr id="7" name="compare-1"/>
            <p:cNvSpPr/>
            <p:nvPr/>
          </p:nvSpPr>
          <p:spPr>
            <a:xfrm>
              <a:off x="6334125" y="2047875"/>
              <a:ext cx="5095875" cy="3238500"/>
            </a:xfrm>
            <a:prstGeom prst="roundRect">
              <a:avLst>
                <a:gd name="adj" fmla="val 4118"/>
              </a:avLst>
            </a:prstGeom>
            <a:solidFill>
              <a:srgbClr val="FFFFFF"/>
            </a:solidFill>
            <a:ln w="19050">
              <a:solidFill>
                <a:srgbClr val="4CC4EB"/>
              </a:solidFill>
            </a:ln>
          </p:spPr>
        </p:sp>
        <p:sp>
          <p:nvSpPr>
            <p:cNvPr id="8" name="compare-band-1"/>
            <p:cNvSpPr/>
            <p:nvPr/>
          </p:nvSpPr>
          <p:spPr>
            <a:xfrm>
              <a:off x="6334125" y="2047875"/>
              <a:ext cx="5095875" cy="552450"/>
            </a:xfrm>
            <a:prstGeom prst="rect">
              <a:avLst/>
            </a:prstGeom>
            <a:solidFill>
              <a:srgbClr val="044F9E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7377" y="2219325"/>
              <a:ext cx="13493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Bản hiện hành</a:t>
              </a:r>
            </a:p>
          </p:txBody>
        </p:sp>
        <p:sp>
          <p:nvSpPr>
            <p:cNvPr id="10" name="compare-body-1"/>
            <p:cNvSpPr txBox="1"/>
            <p:nvPr/>
          </p:nvSpPr>
          <p:spPr>
            <a:xfrm>
              <a:off x="6555867" y="2825750"/>
              <a:ext cx="2936596" cy="10641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1 khu C · ESP-C01 · 2 cửa.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Một firmware Wokwi; hai cửa liên động.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Cloud một bảng C, hai biểu đồ.</a:t>
              </a:r>
            </a:p>
            <a:p>
              <a:pPr algn="l" marL="124147" indent="-124147">
                <a:lnSpc>
                  <a:spcPts val="2100"/>
                </a:lnSpc>
                <a:buClr>
                  <a:srgbClr val="263746"/>
                </a:buClr>
                <a:buSzTx/>
                <a:buFontTx/>
                <a:buChar char="•"/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30 linh kiện khớp diagram.</a:t>
              </a:r>
            </a:p>
          </p:txBody>
        </p:sp>
        <p:sp>
          <p:nvSpPr>
            <p:cNvPr id="11" name="verdict-band"/>
            <p:cNvSpPr/>
            <p:nvPr/>
          </p:nvSpPr>
          <p:spPr>
            <a:xfrm>
              <a:off x="1524000" y="5543550"/>
              <a:ext cx="9144000" cy="552450"/>
            </a:xfrm>
            <a:prstGeom prst="roundRect">
              <a:avLst>
                <a:gd name="adj" fmla="val 17241"/>
              </a:avLst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255897" y="5734050"/>
              <a:ext cx="368020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28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Lịch sử MySQL giữ nguyên; hoạt động chỉ lọc khu C.</a:t>
              </a:r>
            </a:p>
          </p:txBody>
        </p:sp>
      </p:grpSp>
    </p:spTree>
    <p:extLst>
      <p:ext uri="{BB962C8B-B14F-4D97-AF65-F5344CB8AC3E}">
        <p14:creationId val="1297756274"/>
      </p:ext>
    </p:extLst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khoguard-chapter"/>
          <p:cNvGrpSpPr/>
          <p:nvPr/>
        </p:nvGrpSpPr>
        <p:grpSpPr>
          <a:xfrm>
            <a:off x="3301114" y="2095500"/>
            <a:ext cx="5589773" cy="3009900"/>
            <a:chOff x="3301114" y="2095500"/>
            <a:chExt cx="5589773" cy="3009900"/>
          </a:xfrm>
        </p:grpSpPr>
        <p:sp>
          <p:nvSpPr>
            <p:cNvPr id="2" name="chapter-ring"/>
            <p:cNvSpPr/>
            <p:nvPr/>
          </p:nvSpPr>
          <p:spPr>
            <a:xfrm>
              <a:off x="5476875" y="2095500"/>
              <a:ext cx="1238250" cy="1238250"/>
            </a:xfrm>
            <a:prstGeom prst="ellipse">
              <a:avLst/>
            </a:prstGeom>
            <a:solidFill>
              <a:srgbClr val="FFFFFF"/>
            </a:solidFill>
            <a:ln w="76200">
              <a:solidFill>
                <a:srgbClr val="FEC01D"/>
              </a:solidFill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410545" y="2546350"/>
              <a:ext cx="137091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1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CHƯƠNG 5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3301114" y="3543300"/>
              <a:ext cx="5589773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32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Chương 5 · Kết luận và giới hạn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381047" y="4400550"/>
              <a:ext cx="54299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650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Mô hình giúp nhìn rõ quy tắc trước khi nói tới triển khai thật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4095750" y="5095875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47625" cap="rnd">
              <a:solidFill>
                <a:srgbClr val="FEC01D"/>
              </a:solidFill>
            </a:ln>
          </p:spPr>
        </p:sp>
      </p:grpSp>
    </p:spTree>
    <p:extLst>
      <p:ext uri="{BB962C8B-B14F-4D97-AF65-F5344CB8AC3E}">
        <p14:creationId val="3319351958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khoguard-content"/>
          <p:cNvGrpSpPr/>
          <p:nvPr/>
        </p:nvGrpSpPr>
        <p:grpSpPr>
          <a:xfrm>
            <a:off x="762000" y="739775"/>
            <a:ext cx="10668000" cy="4546600"/>
            <a:chOff x="762000" y="739775"/>
            <a:chExt cx="10668000" cy="4546600"/>
          </a:xfrm>
        </p:grpSpPr>
        <p:sp>
          <p:nvSpPr>
            <p:cNvPr id="2" name="kg-page-title"/>
            <p:cNvSpPr txBox="1"/>
            <p:nvPr/>
          </p:nvSpPr>
          <p:spPr>
            <a:xfrm>
              <a:off x="2305595" y="739775"/>
              <a:ext cx="7580810" cy="8606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850"/>
                </a:lnSpc>
              </a:pPr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KhoGuard nối được tín hiệu, quy tắc và lịch sử trong một</a:t>
              </a:r>
              <a:b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</a:br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demo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815856" y="1530350"/>
              <a:ext cx="25602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Một ESP32 · hai cửa · một khu C.</a:t>
              </a:r>
            </a:p>
          </p:txBody>
        </p:sp>
        <p:sp>
          <p:nvSpPr>
            <p:cNvPr id="4" name="card-0"/>
            <p:cNvSpPr/>
            <p:nvPr/>
          </p:nvSpPr>
          <p:spPr>
            <a:xfrm>
              <a:off x="7620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card-band-0"/>
            <p:cNvSpPr/>
            <p:nvPr/>
          </p:nvSpPr>
          <p:spPr>
            <a:xfrm>
              <a:off x="762000" y="1952625"/>
              <a:ext cx="3441700" cy="11430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25068" y="2219325"/>
              <a:ext cx="2835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Đo</a:t>
              </a:r>
            </a:p>
          </p:txBody>
        </p:sp>
        <p:sp>
          <p:nvSpPr>
            <p:cNvPr id="7" name="card-body-0"/>
            <p:cNvSpPr txBox="1"/>
            <p:nvPr/>
          </p:nvSpPr>
          <p:spPr>
            <a:xfrm>
              <a:off x="926592" y="2689225"/>
              <a:ext cx="2037255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Nhiệt độ, độ ẩm, thẻ, chuyển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động, vật cản và contact.</a:t>
              </a:r>
            </a:p>
          </p:txBody>
        </p:sp>
        <p:sp>
          <p:nvSpPr>
            <p:cNvPr id="8" name="card-1"/>
            <p:cNvSpPr/>
            <p:nvPr/>
          </p:nvSpPr>
          <p:spPr>
            <a:xfrm>
              <a:off x="437515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card-band-1"/>
            <p:cNvSpPr/>
            <p:nvPr/>
          </p:nvSpPr>
          <p:spPr>
            <a:xfrm>
              <a:off x="4375150" y="1952625"/>
              <a:ext cx="3441700" cy="114300"/>
            </a:xfrm>
            <a:prstGeom prst="rect">
              <a:avLst/>
            </a:prstGeom>
            <a:solidFill>
              <a:srgbClr val="4CC4E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38218" y="2219325"/>
              <a:ext cx="644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Bảo vệ</a:t>
              </a:r>
            </a:p>
          </p:txBody>
        </p:sp>
        <p:sp>
          <p:nvSpPr>
            <p:cNvPr id="11" name="card-body-1"/>
            <p:cNvSpPr txBox="1"/>
            <p:nvPr/>
          </p:nvSpPr>
          <p:spPr>
            <a:xfrm>
              <a:off x="4539742" y="2689225"/>
              <a:ext cx="2167865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Liên động, Panic, timeout và từ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chối lệnh không an toàn.</a:t>
              </a:r>
            </a:p>
          </p:txBody>
        </p:sp>
        <p:sp>
          <p:nvSpPr>
            <p:cNvPr id="12" name="card-2"/>
            <p:cNvSpPr/>
            <p:nvPr/>
          </p:nvSpPr>
          <p:spPr>
            <a:xfrm>
              <a:off x="7988300" y="1952625"/>
              <a:ext cx="3441700" cy="3333750"/>
            </a:xfrm>
            <a:prstGeom prst="roundRect">
              <a:avLst>
                <a:gd name="adj" fmla="val 3429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card-band-2"/>
            <p:cNvSpPr/>
            <p:nvPr/>
          </p:nvSpPr>
          <p:spPr>
            <a:xfrm>
              <a:off x="7988300" y="1952625"/>
              <a:ext cx="3441700" cy="114300"/>
            </a:xfrm>
            <a:prstGeom prst="rect">
              <a:avLst/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51368" y="2219325"/>
              <a:ext cx="849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6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Quan sát</a:t>
              </a:r>
            </a:p>
          </p:txBody>
        </p:sp>
        <p:sp>
          <p:nvSpPr>
            <p:cNvPr id="15" name="card-body-2"/>
            <p:cNvSpPr txBox="1"/>
            <p:nvPr/>
          </p:nvSpPr>
          <p:spPr>
            <a:xfrm>
              <a:off x="8152892" y="2689225"/>
              <a:ext cx="2519389" cy="4926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Website/MySQL chính; ThingsBoard</a:t>
              </a:r>
              <a:b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35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là bản sao Cloud.</a:t>
              </a:r>
            </a:p>
          </p:txBody>
        </p:sp>
      </p:grpSp>
    </p:spTree>
    <p:extLst>
      <p:ext uri="{BB962C8B-B14F-4D97-AF65-F5344CB8AC3E}">
        <p14:creationId val="987231680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khoguard-content"/>
          <p:cNvGrpSpPr/>
          <p:nvPr/>
        </p:nvGrpSpPr>
        <p:grpSpPr>
          <a:xfrm>
            <a:off x="762000" y="714375"/>
            <a:ext cx="10668000" cy="5029200"/>
            <a:chOff x="762000" y="714375"/>
            <a:chExt cx="10668000" cy="5029200"/>
          </a:xfrm>
        </p:grpSpPr>
        <p:sp>
          <p:nvSpPr>
            <p:cNvPr id="2" name="TextBox 2"/>
            <p:cNvSpPr txBox="1"/>
            <p:nvPr/>
          </p:nvSpPr>
          <p:spPr>
            <a:xfrm>
              <a:off x="2061079" y="714375"/>
              <a:ext cx="8069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5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Mô hình chưa thay thế thiết bị và kiểm định công nghiệp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3518484" y="1530350"/>
              <a:ext cx="51550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Không dùng mô hình này để bảo vệ người hoặc điều khiển tải thật.</a:t>
              </a:r>
            </a:p>
          </p:txBody>
        </p:sp>
        <p:sp>
          <p:nvSpPr>
            <p:cNvPr id="4" name="matrix-0"/>
            <p:cNvSpPr/>
            <p:nvPr/>
          </p:nvSpPr>
          <p:spPr>
            <a:xfrm>
              <a:off x="762000" y="19526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EAF5FB"/>
            </a:solidFill>
            <a:ln w="19050">
              <a:solidFill>
                <a:srgbClr val="B8D5E7"/>
              </a:solidFill>
            </a:ln>
          </p:spPr>
        </p:sp>
        <p:sp>
          <p:nvSpPr>
            <p:cNvPr id="5" name="matrix-strip-0"/>
            <p:cNvSpPr/>
            <p:nvPr/>
          </p:nvSpPr>
          <p:spPr>
            <a:xfrm>
              <a:off x="762000" y="1952625"/>
              <a:ext cx="114300" cy="1809750"/>
            </a:xfrm>
            <a:prstGeom prst="rect">
              <a:avLst/>
            </a:prstGeom>
            <a:solidFill>
              <a:srgbClr val="2072B7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021080" y="2193925"/>
              <a:ext cx="3057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PIR</a:t>
              </a:r>
            </a:p>
          </p:txBody>
        </p:sp>
        <p:sp>
          <p:nvSpPr>
            <p:cNvPr id="7" name="matrix-body-0"/>
            <p:cNvSpPr txBox="1"/>
            <p:nvPr/>
          </p:nvSpPr>
          <p:spPr>
            <a:xfrm>
              <a:off x="1022223" y="2578100"/>
              <a:ext cx="3515618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Phát hiện chuyển động; người đứng yên có thể không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được nhận ra.</a:t>
              </a:r>
            </a:p>
          </p:txBody>
        </p:sp>
        <p:sp>
          <p:nvSpPr>
            <p:cNvPr id="8" name="matrix-1"/>
            <p:cNvSpPr/>
            <p:nvPr/>
          </p:nvSpPr>
          <p:spPr>
            <a:xfrm>
              <a:off x="6181725" y="19526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FFFFF"/>
            </a:solidFill>
            <a:ln w="19050">
              <a:solidFill>
                <a:srgbClr val="B8D5E7"/>
              </a:solidFill>
            </a:ln>
          </p:spPr>
        </p:sp>
        <p:sp>
          <p:nvSpPr>
            <p:cNvPr id="9" name="matrix-strip-1"/>
            <p:cNvSpPr/>
            <p:nvPr/>
          </p:nvSpPr>
          <p:spPr>
            <a:xfrm>
              <a:off x="6181725" y="1952625"/>
              <a:ext cx="114300" cy="1809750"/>
            </a:xfrm>
            <a:prstGeom prst="rect">
              <a:avLst/>
            </a:prstGeom>
            <a:solidFill>
              <a:srgbClr val="4CC4E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40805" y="2193925"/>
              <a:ext cx="765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HC-SR04</a:t>
              </a:r>
            </a:p>
          </p:txBody>
        </p:sp>
        <p:sp>
          <p:nvSpPr>
            <p:cNvPr id="11" name="matrix-body-1"/>
            <p:cNvSpPr txBox="1"/>
            <p:nvPr/>
          </p:nvSpPr>
          <p:spPr>
            <a:xfrm>
              <a:off x="6441948" y="2578100"/>
              <a:ext cx="3675853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Không phải rèm quang an toàn; vật cản động/đảo chiều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chưa xác nhận.</a:t>
              </a:r>
            </a:p>
          </p:txBody>
        </p:sp>
        <p:sp>
          <p:nvSpPr>
            <p:cNvPr id="12" name="matrix-2"/>
            <p:cNvSpPr/>
            <p:nvPr/>
          </p:nvSpPr>
          <p:spPr>
            <a:xfrm>
              <a:off x="762000" y="39338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FF8E2"/>
            </a:solidFill>
            <a:ln w="19050">
              <a:solidFill>
                <a:srgbClr val="B8D5E7"/>
              </a:solidFill>
            </a:ln>
          </p:spPr>
        </p:sp>
        <p:sp>
          <p:nvSpPr>
            <p:cNvPr id="13" name="matrix-strip-2"/>
            <p:cNvSpPr/>
            <p:nvPr/>
          </p:nvSpPr>
          <p:spPr>
            <a:xfrm>
              <a:off x="762000" y="3933825"/>
              <a:ext cx="114300" cy="1809750"/>
            </a:xfrm>
            <a:prstGeom prst="rect">
              <a:avLst/>
            </a:prstGeom>
            <a:solidFill>
              <a:srgbClr val="FEC01D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21080" y="4175125"/>
              <a:ext cx="4076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Điện</a:t>
              </a:r>
            </a:p>
          </p:txBody>
        </p:sp>
        <p:sp>
          <p:nvSpPr>
            <p:cNvPr id="15" name="matrix-body-2"/>
            <p:cNvSpPr txBox="1"/>
            <p:nvPr/>
          </p:nvSpPr>
          <p:spPr>
            <a:xfrm>
              <a:off x="1022223" y="4559300"/>
              <a:ext cx="3626273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ECHO 5 V cần chuyển mức; nguồn thật, cách ly và relay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chưa nghiệm thu.</a:t>
              </a:r>
            </a:p>
          </p:txBody>
        </p:sp>
        <p:sp>
          <p:nvSpPr>
            <p:cNvPr id="16" name="matrix-3"/>
            <p:cNvSpPr/>
            <p:nvPr/>
          </p:nvSpPr>
          <p:spPr>
            <a:xfrm>
              <a:off x="6181725" y="3933825"/>
              <a:ext cx="5248275" cy="1809750"/>
            </a:xfrm>
            <a:prstGeom prst="roundRect">
              <a:avLst>
                <a:gd name="adj" fmla="val 6316"/>
              </a:avLst>
            </a:prstGeom>
            <a:solidFill>
              <a:srgbClr val="F1F6FA"/>
            </a:solidFill>
            <a:ln w="19050">
              <a:solidFill>
                <a:srgbClr val="B8D5E7"/>
              </a:solidFill>
            </a:ln>
          </p:spPr>
        </p:sp>
        <p:sp>
          <p:nvSpPr>
            <p:cNvPr id="17" name="matrix-strip-3"/>
            <p:cNvSpPr/>
            <p:nvPr/>
          </p:nvSpPr>
          <p:spPr>
            <a:xfrm>
              <a:off x="6181725" y="3933825"/>
              <a:ext cx="114300" cy="1809750"/>
            </a:xfrm>
            <a:prstGeom prst="rect">
              <a:avLst/>
            </a:prstGeom>
            <a:solidFill>
              <a:srgbClr val="E81F2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40805" y="4175125"/>
              <a:ext cx="5739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Đầu ra</a:t>
              </a:r>
            </a:p>
          </p:txBody>
        </p:sp>
        <p:sp>
          <p:nvSpPr>
            <p:cNvPr id="19" name="matrix-body-3"/>
            <p:cNvSpPr txBox="1"/>
            <p:nvPr/>
          </p:nvSpPr>
          <p:spPr>
            <a:xfrm>
              <a:off x="6441948" y="4559300"/>
              <a:ext cx="3401143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Servo, LED và relay chỉ minh họa; nhiệt độ không tự</a:t>
              </a:r>
              <a:b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</a:br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điều khiển sưởi/quạt.</a:t>
              </a:r>
            </a:p>
          </p:txBody>
        </p:sp>
      </p:grpSp>
    </p:spTree>
    <p:extLst>
      <p:ext uri="{BB962C8B-B14F-4D97-AF65-F5344CB8AC3E}">
        <p14:creationId val="2464544392"/>
      </p:ext>
    </p:extLst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khoguard-content"/>
          <p:cNvGrpSpPr/>
          <p:nvPr/>
        </p:nvGrpSpPr>
        <p:grpSpPr>
          <a:xfrm>
            <a:off x="1238250" y="733425"/>
            <a:ext cx="8398103" cy="4895850"/>
            <a:chOff x="1238250" y="733425"/>
            <a:chExt cx="8398103" cy="4895850"/>
          </a:xfrm>
        </p:grpSpPr>
        <p:sp>
          <p:nvSpPr>
            <p:cNvPr id="2" name="TextBox 2"/>
            <p:cNvSpPr txBox="1"/>
            <p:nvPr/>
          </p:nvSpPr>
          <p:spPr>
            <a:xfrm>
              <a:off x="2555647" y="733425"/>
              <a:ext cx="708070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285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Chạy demo theo một vòng an toàn dễ lặp lại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4070890" y="1349375"/>
              <a:ext cx="40502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420" dirty="0">
                  <a:solidFill>
                    <a:srgbClr val="657786"/>
                  </a:solidFill>
                  <a:latin typeface="Calibri"/>
                  <a:ea typeface="Calibri"/>
                  <a:cs typeface="Calibri"/>
                </a:rPr>
                <a:t>Hướng dẫn đầy đủ: docs/HUONG_DAN_DEMO.md.</a:t>
              </a:r>
            </a:p>
          </p:txBody>
        </p:sp>
        <p:sp>
          <p:nvSpPr>
            <p:cNvPr id="4" name="tl-dot-0"/>
            <p:cNvSpPr/>
            <p:nvPr/>
          </p:nvSpPr>
          <p:spPr>
            <a:xfrm>
              <a:off x="1238250" y="197167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384829" y="2092325"/>
              <a:ext cx="87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897380" y="1965325"/>
              <a:ext cx="8648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Khởi động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470273" y="1990725"/>
              <a:ext cx="264506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run.bat · đợi MySQL, broker, backend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1428750" y="237172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9" name="tl-dot-1"/>
            <p:cNvSpPr/>
            <p:nvPr/>
          </p:nvSpPr>
          <p:spPr>
            <a:xfrm>
              <a:off x="1238250" y="279082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84829" y="2911475"/>
              <a:ext cx="87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97380" y="2784475"/>
              <a:ext cx="8822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Mô phỏng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470273" y="2809875"/>
              <a:ext cx="269974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Một tab Wokwi, giữ Simulator hiển thị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1428750" y="31908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14" name="tl-dot-2"/>
            <p:cNvSpPr/>
            <p:nvPr/>
          </p:nvSpPr>
          <p:spPr>
            <a:xfrm>
              <a:off x="1238250" y="360997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384829" y="3730625"/>
              <a:ext cx="87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897380" y="3603625"/>
              <a:ext cx="734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Kiểm tra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0273" y="3629025"/>
              <a:ext cx="262773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Trang web · ESP-C01 fresh · cửa đóng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428750" y="401002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19" name="tl-dot-3"/>
            <p:cNvSpPr/>
            <p:nvPr/>
          </p:nvSpPr>
          <p:spPr>
            <a:xfrm>
              <a:off x="1238250" y="442912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84829" y="4549775"/>
              <a:ext cx="87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97380" y="4422775"/>
              <a:ext cx="8722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Trình diễn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70273" y="4448175"/>
              <a:ext cx="244217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RFID · PIR/sonar · Panic · cảnh báo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428750" y="4829175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8575" cap="rnd">
              <a:solidFill>
                <a:srgbClr val="B8D5E7"/>
              </a:solidFill>
            </a:ln>
          </p:spPr>
        </p:sp>
        <p:sp>
          <p:nvSpPr>
            <p:cNvPr id="24" name="tl-dot-4"/>
            <p:cNvSpPr/>
            <p:nvPr/>
          </p:nvSpPr>
          <p:spPr>
            <a:xfrm>
              <a:off x="1238250" y="5248275"/>
              <a:ext cx="381000" cy="381000"/>
            </a:xfrm>
            <a:prstGeom prst="ellipse">
              <a:avLst/>
            </a:prstGeom>
            <a:solidFill>
              <a:srgbClr val="2072B7"/>
            </a:solidFill>
            <a:ln w="28575">
              <a:solidFill>
                <a:srgbClr val="FEC01D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384829" y="5368925"/>
              <a:ext cx="878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vi" sz="1120" b="1" dirty="0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897380" y="5241925"/>
              <a:ext cx="8533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500" b="1" dirty="0">
                  <a:solidFill>
                    <a:srgbClr val="044F9E"/>
                  </a:solidFill>
                  <a:latin typeface="Calibri"/>
                  <a:ea typeface="Calibri"/>
                  <a:cs typeface="Calibri"/>
                </a:rPr>
                <a:t>Khôi phục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470273" y="5267325"/>
              <a:ext cx="312536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vi" sz="1280" dirty="0">
                  <a:solidFill>
                    <a:srgbClr val="263746"/>
                  </a:solidFill>
                  <a:latin typeface="Calibri"/>
                  <a:ea typeface="Calibri"/>
                  <a:cs typeface="Calibri"/>
                </a:rPr>
                <a:t>Nhả Panic · đóng cửa · sonar clear · close.bat</a:t>
              </a:r>
            </a:p>
          </p:txBody>
        </p:sp>
      </p:grpSp>
    </p:spTree>
    <p:extLst>
      <p:ext uri="{BB962C8B-B14F-4D97-AF65-F5344CB8AC3E}">
        <p14:creationId val="3378413330"/>
      </p:ext>
    </p:extLst>
  </p:cSld>
  <p:clrMapOvr>
    <a:masterClrMapping/>
  </p:clrMapOvr>
</p:sld>
</file>

<file path=ppt/slides/slide33.xml><?xml version="1.0" encoding="utf-8"?>
<p:sld xmlns:a="http://schemas.openxmlformats.org/drawingml/2006/main" xmlns:a14="http://schemas.microsoft.com/office/drawing/2010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684C5C43-FE6E-F163-79DC-D4BAB8BC2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/>
          <p:nvPr/>
        </p:nvSpPr>
        <p:spPr>
          <a:xfrm>
            <a:off x="281845" y="877634"/>
            <a:ext cx="11910155" cy="1688878"/>
          </a:xfrm>
          <a:prstGeom prst="rect">
            <a:avLst/>
          </a:prstGeom>
          <a:noFill/>
          <a:ln>
            <a:noFill/>
          </a:ln>
        </p:spPr>
        <p:txBody>
          <a:bodyPr wrap="none" lIns="0" tIns="96553" rIns="95" bIns="0" anchor="t" anchorCtr="0">
            <a:noAutofit/>
          </a:bodyPr>
          <a:lstStyle/>
          <a:p>
            <a:pPr algn="ctr"/>
            <a:r>
              <a:rPr lang="vi" sz="36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CẢM ƠN THẦY CÔ</a:t>
            </a:r>
          </a:p>
        </p:txBody>
      </p:sp>
      <p:pic>
        <p:nvPicPr>
          <p:cNvPr id="55" name="Picture 2" descr="Rosanna Rossi Design - Flower Bouquet Thank You Card #RCS013">
            <a:extLst>
              <a:ext uri="{FF2B5EF4-FFF2-40B4-BE49-F238E27FC236}">
                <ns2:creationId id="{A993B3FD-75D8-662D-0335-F0DA1CB7A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rcRect/>
          <a:stretch>
            <a:fillRect/>
          </a:stretch>
        </p:blipFill>
        <p:spPr bwMode="auto">
          <a:xfrm>
            <a:off x="4602842" y="2348841"/>
            <a:ext cx="2986315" cy="4288857"/>
          </a:xfrm>
          <a:prstGeom prst="rect">
            <a:avLst/>
          </a:prstGeom>
          <a:noFill/>
          <a:extLst>
            <a:ext uri="{909E8E84-426E-40DD-AFC4-6F175D3DCCD1}">
              <a14:hiddenFill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val="322451932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HUIT">
      <a:dk1>
        <a:srgbClr val="000000"/>
      </a:dk1>
      <a:lt1>
        <a:srgbClr val="FFFFFF"/>
      </a:lt1>
      <a:dk2>
        <a:srgbClr val="354253"/>
      </a:dk2>
      <a:lt2>
        <a:srgbClr val="E7E6E6"/>
      </a:lt2>
      <a:accent1>
        <a:srgbClr val="044F9E"/>
      </a:accent1>
      <a:accent2>
        <a:srgbClr val="2072B7"/>
      </a:accent2>
      <a:accent3>
        <a:srgbClr val="4CC4EB"/>
      </a:accent3>
      <a:accent4>
        <a:srgbClr val="E81F26"/>
      </a:accent4>
      <a:accent5>
        <a:srgbClr val="FEC01D"/>
      </a:accent5>
      <a:accent6>
        <a:srgbClr val="DBD014"/>
      </a:accent6>
      <a:hlink>
        <a:srgbClr val="2072B7"/>
      </a:hlink>
      <a:folHlink>
        <a:srgbClr val="044F9E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emplate/>
  <ns0:TotalTime>31</ns0:TotalTime>
  <ns0:Words>774</ns0:Words>
  <ns0:Application>Microsoft Office PowerPoint</ns0:Application>
  <ns0:PresentationFormat>Widescreen</ns0:PresentationFormat>
  <ns0:Paragraphs>146</ns0:Paragraphs>
  <ns0:Slides>33</ns0:Slides>
  <ns0:Notes>0</ns0:Notes>
  <ns0:HiddenSlides>0</ns0:HiddenSlides>
  <ns0:MMClips>0</ns0:MMClips>
  <ns0:ScaleCrop>false</ns0:ScaleCrop>
  <ns0:HeadingPairs>
    <ns1:vector size="6" baseType="variant">
      <ns1:variant>
        <ns1:lpstr>Fonts Used</ns1:lpstr>
      </ns1:variant>
      <ns1:variant>
        <ns1:i4>7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16</ns1:i4>
      </ns1:variant>
    </ns1:vector>
  </ns0:HeadingPairs>
  <ns0:TitlesOfParts>
    <ns1:vector size="24" baseType="lpstr">
      <ns1:lpstr>Amatic SC</ns1:lpstr>
      <ns1:lpstr>Arial</ns1:lpstr>
      <ns1:lpstr>Calibri</ns1:lpstr>
      <ns1:lpstr>Calibri Light</ns1:lpstr>
      <ns1:lpstr>Oswald</ns1:lpstr>
      <ns1:lpstr>Roboto Condensed</ns1:lpstr>
      <ns1:lpstr>Times New Roman</ns1:lpstr>
      <ns1:lpstr>1_Office Theme</ns1:lpstr>
      <ns1:lpstr>PowerPoint Presentation</ns1:lpstr>
      <ns1:lpstr>PowerPoint Presentation</ns1:lpstr>
      <ns1:lpstr>PowerPoint Presentation</ns1:lpstr>
      <ns1:lpstr>PowerPoint Presentation</ns1:lpstr>
      <ns1:lpstr>PowerPoint Presentation</ns1:lpstr>
      <ns1:lpstr>PowerPoint Presentation</ns1:lpstr>
      <ns1:lpstr>PowerPoint Presentation</ns1:lpstr>
      <ns1:lpstr>USE CHARTS TO EXPLAIN YOUR IDEAS</ns1:lpstr>
      <ns1:lpstr>PowerPoint Presentation</ns1:lpstr>
      <ns1:lpstr>PowerPoint Presentation</ns1:lpstr>
      <ns1:lpstr>TIMELINE</ns1:lpstr>
      <ns1:lpstr>ROADMAP</ns1:lpstr>
      <ns1:lpstr>SWOT ANALYSIS</ns1:lpstr>
      <ns1:lpstr>FUNNEL</ns1:lpstr>
      <ns1:lpstr>Diagrams and infographics</ns1:lpstr>
      <ns1:lpstr>PowerPoint Presentation</ns1:lpstr>
    </ns1:vector>
  </ns0:TitlesOfParts>
  <ns0:Company/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Võ Văn Vũ</dc:creator>
  <cp:lastModifiedBy>Vu Van Diep</cp:lastModifiedBy>
  <cp:revision>5</cp:revision>
  <dcterms:created xsi:type="dcterms:W3CDTF">2023-11-06T07:10:59Z</dcterms:created>
  <dcterms:modified xsi:type="dcterms:W3CDTF">2024-11-25T01:48:47Z</dcterms:modified>
</cp:coreProperties>
</file>